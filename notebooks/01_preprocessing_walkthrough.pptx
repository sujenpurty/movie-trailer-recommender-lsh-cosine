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Notebook Walkthrough PPT</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Source: 01_preprocessing.ipynb</a:t>
            </a:r>
          </a:p>
        </p:txBody>
      </p:sp>
      <p:sp>
        <p:nvSpPr>
          <p:cNvPr id="5" name="TextBox 4"/>
          <p:cNvSpPr txBox="1"/>
          <p:nvPr/>
        </p:nvSpPr>
        <p:spPr>
          <a:xfrm>
            <a:off x="640080" y="1463040"/>
            <a:ext cx="10972800" cy="1463040"/>
          </a:xfrm>
          <a:prstGeom prst="rect">
            <a:avLst/>
          </a:prstGeom>
          <a:noFill/>
        </p:spPr>
        <p:txBody>
          <a:bodyPr wrap="none">
            <a:spAutoFit/>
          </a:bodyPr>
          <a:lstStyle/>
          <a:p>
            <a:pPr algn="l"/>
            <a:r>
              <a:rPr sz="4000" b="1">
                <a:solidFill>
                  <a:srgbClr val="10213F"/>
                </a:solidFill>
                <a:latin typeface="Segoe UI Semibold"/>
              </a:rPr>
              <a:t>01 Preprocessing</a:t>
            </a:r>
          </a:p>
        </p:txBody>
      </p:sp>
      <p:sp>
        <p:nvSpPr>
          <p:cNvPr id="6" name="TextBox 5"/>
          <p:cNvSpPr txBox="1"/>
          <p:nvPr/>
        </p:nvSpPr>
        <p:spPr>
          <a:xfrm>
            <a:off x="640080" y="3200400"/>
            <a:ext cx="10972800" cy="914400"/>
          </a:xfrm>
          <a:prstGeom prst="rect">
            <a:avLst/>
          </a:prstGeom>
          <a:noFill/>
        </p:spPr>
        <p:txBody>
          <a:bodyPr wrap="none">
            <a:spAutoFit/>
          </a:bodyPr>
          <a:lstStyle/>
          <a:p>
            <a:pPr algn="l"/>
            <a:r>
              <a:rPr sz="1700" b="0">
                <a:solidFill>
                  <a:srgbClr val="5A6678"/>
                </a:solidFill>
                <a:latin typeface="Segoe UI"/>
              </a:rPr>
              <a:t>Cell-wise explanation and outputs | Total cells: 89 | Generated: 16 Apr 2026, 07:17 PM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Notebook Summary</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Kya ho raha hai: high-level view</a:t>
            </a:r>
          </a:p>
        </p:txBody>
      </p:sp>
      <p:sp>
        <p:nvSpPr>
          <p:cNvPr id="5" name="Rounded Rectangle 4"/>
          <p:cNvSpPr/>
          <p:nvPr/>
        </p:nvSpPr>
        <p:spPr>
          <a:xfrm>
            <a:off x="365760" y="1051560"/>
            <a:ext cx="6766560" cy="539496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400800" cy="274320"/>
          </a:xfrm>
          <a:prstGeom prst="rect">
            <a:avLst/>
          </a:prstGeom>
          <a:noFill/>
        </p:spPr>
        <p:txBody>
          <a:bodyPr wrap="none">
            <a:spAutoFit/>
          </a:bodyPr>
          <a:lstStyle/>
          <a:p>
            <a:pPr algn="l"/>
            <a:r>
              <a:rPr sz="1400" b="1">
                <a:solidFill>
                  <a:srgbClr val="2962FF"/>
                </a:solidFill>
                <a:latin typeface="Segoe UI"/>
              </a:rPr>
              <a:t>Overview</a:t>
            </a:r>
          </a:p>
        </p:txBody>
      </p:sp>
      <p:sp>
        <p:nvSpPr>
          <p:cNvPr id="7" name="TextBox 6"/>
          <p:cNvSpPr txBox="1"/>
          <p:nvPr/>
        </p:nvSpPr>
        <p:spPr>
          <a:xfrm>
            <a:off x="548640" y="1508760"/>
            <a:ext cx="6400800" cy="4828032"/>
          </a:xfrm>
          <a:prstGeom prst="rect">
            <a:avLst/>
          </a:prstGeom>
          <a:noFill/>
        </p:spPr>
        <p:txBody>
          <a:bodyPr wrap="square">
            <a:spAutoFit/>
          </a:bodyPr>
          <a:lstStyle/>
          <a:p>
            <a:pPr algn="l"/>
            <a:r>
              <a:rPr sz="1300" b="0">
                <a:solidFill>
                  <a:srgbClr val="202834"/>
                </a:solidFill>
                <a:latin typeface="Segoe UI"/>
              </a:rPr>
              <a:t>- Notebook: 01_preprocessing.ipynb</a:t>
            </a:r>
          </a:p>
          <a:p>
            <a:pPr algn="l"/>
            <a:r>
              <a:rPr sz="1300" b="0">
                <a:solidFill>
                  <a:srgbClr val="202834"/>
                </a:solidFill>
                <a:latin typeface="Segoe UI"/>
              </a:rPr>
              <a:t>- Total cells: 89</a:t>
            </a:r>
          </a:p>
          <a:p>
            <a:pPr algn="l"/>
            <a:r>
              <a:rPr sz="1300" b="0">
                <a:solidFill>
                  <a:srgbClr val="202834"/>
                </a:solidFill>
                <a:latin typeface="Segoe UI"/>
              </a:rPr>
              <a:t>- Code cells: 64</a:t>
            </a:r>
          </a:p>
          <a:p>
            <a:pPr algn="l"/>
            <a:r>
              <a:rPr sz="1300" b="0">
                <a:solidFill>
                  <a:srgbClr val="202834"/>
                </a:solidFill>
                <a:latin typeface="Segoe UI"/>
              </a:rPr>
              <a:t>- Markdown cells: 25</a:t>
            </a:r>
          </a:p>
          <a:p>
            <a:pPr algn="l"/>
            <a:r>
              <a:rPr sz="1300" b="0">
                <a:solidFill>
                  <a:srgbClr val="202834"/>
                </a:solidFill>
                <a:latin typeface="Segoe UI"/>
              </a:rPr>
              <a:t>- Code cells with output: 39</a:t>
            </a:r>
          </a:p>
          <a:p>
            <a:pPr algn="l"/>
            <a:r>
              <a:rPr sz="1300" b="0">
                <a:solidFill>
                  <a:srgbClr val="202834"/>
                </a:solidFill>
                <a:latin typeface="Segoe UI"/>
              </a:rPr>
              <a:t/>
            </a:r>
          </a:p>
          <a:p>
            <a:pPr algn="l"/>
            <a:r>
              <a:rPr sz="1300" b="0">
                <a:solidFill>
                  <a:srgbClr val="202834"/>
                </a:solidFill>
                <a:latin typeface="Segoe UI"/>
              </a:rPr>
              <a:t>Detected workflow:</a:t>
            </a:r>
          </a:p>
          <a:p>
            <a:pPr algn="l"/>
            <a:r>
              <a:rPr sz="1300" b="0">
                <a:solidFill>
                  <a:srgbClr val="202834"/>
                </a:solidFill>
                <a:latin typeface="Segoe UI"/>
              </a:rPr>
              <a:t>- Data files load</a:t>
            </a:r>
          </a:p>
          <a:p>
            <a:pPr algn="l"/>
            <a:r>
              <a:rPr sz="1300" b="0">
                <a:solidFill>
                  <a:srgbClr val="202834"/>
                </a:solidFill>
                <a:latin typeface="Segoe UI"/>
              </a:rPr>
              <a:t>- Initial data inspection</a:t>
            </a:r>
          </a:p>
          <a:p>
            <a:pPr algn="l"/>
            <a:r>
              <a:rPr sz="1300" b="0">
                <a:solidFill>
                  <a:srgbClr val="202834"/>
                </a:solidFill>
                <a:latin typeface="Segoe UI"/>
              </a:rPr>
              <a:t>- Dataset merge/join</a:t>
            </a:r>
          </a:p>
          <a:p>
            <a:pPr algn="l"/>
            <a:r>
              <a:rPr sz="1300" b="0">
                <a:solidFill>
                  <a:srgbClr val="202834"/>
                </a:solidFill>
                <a:latin typeface="Segoe UI"/>
              </a:rPr>
              <a:t>- Column filtering/selection</a:t>
            </a:r>
          </a:p>
          <a:p>
            <a:pPr algn="l"/>
            <a:r>
              <a:rPr sz="1300" b="0">
                <a:solidFill>
                  <a:srgbClr val="202834"/>
                </a:solidFill>
                <a:latin typeface="Segoe UI"/>
              </a:rPr>
              <a:t>- Missing and duplicate cleanup</a:t>
            </a:r>
          </a:p>
          <a:p>
            <a:pPr algn="l"/>
            <a:r>
              <a:rPr sz="1300" b="0">
                <a:solidFill>
                  <a:srgbClr val="202834"/>
                </a:solidFill>
                <a:latin typeface="Segoe UI"/>
              </a:rPr>
              <a:t>- JSON/text parsing</a:t>
            </a:r>
          </a:p>
          <a:p>
            <a:pPr algn="l"/>
            <a:r>
              <a:rPr sz="1300" b="0">
                <a:solidFill>
                  <a:srgbClr val="202834"/>
                </a:solidFill>
                <a:latin typeface="Segoe UI"/>
              </a:rPr>
              <a:t>- Tag/text feature engineering</a:t>
            </a:r>
          </a:p>
          <a:p>
            <a:pPr algn="l"/>
            <a:r>
              <a:rPr sz="1300" b="0">
                <a:solidFill>
                  <a:srgbClr val="202834"/>
                </a:solidFill>
                <a:latin typeface="Segoe UI"/>
              </a:rPr>
              <a:t>- Output export</a:t>
            </a:r>
          </a:p>
        </p:txBody>
      </p:sp>
      <p:sp>
        <p:nvSpPr>
          <p:cNvPr id="8" name="Rounded Rectangle 7"/>
          <p:cNvSpPr/>
          <p:nvPr/>
        </p:nvSpPr>
        <p:spPr>
          <a:xfrm>
            <a:off x="7315200" y="1051560"/>
            <a:ext cx="4480560" cy="539496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79" y="1161288"/>
            <a:ext cx="4114800" cy="274320"/>
          </a:xfrm>
          <a:prstGeom prst="rect">
            <a:avLst/>
          </a:prstGeom>
          <a:noFill/>
        </p:spPr>
        <p:txBody>
          <a:bodyPr wrap="none">
            <a:spAutoFit/>
          </a:bodyPr>
          <a:lstStyle/>
          <a:p>
            <a:pPr algn="l"/>
            <a:r>
              <a:rPr sz="1400" b="1">
                <a:solidFill>
                  <a:srgbClr val="2962FF"/>
                </a:solidFill>
                <a:latin typeface="Segoe UI"/>
              </a:rPr>
              <a:t>Files</a:t>
            </a:r>
          </a:p>
        </p:txBody>
      </p:sp>
      <p:sp>
        <p:nvSpPr>
          <p:cNvPr id="10" name="TextBox 9"/>
          <p:cNvSpPr txBox="1"/>
          <p:nvPr/>
        </p:nvSpPr>
        <p:spPr>
          <a:xfrm>
            <a:off x="7498079" y="1508760"/>
            <a:ext cx="4114800" cy="4828032"/>
          </a:xfrm>
          <a:prstGeom prst="rect">
            <a:avLst/>
          </a:prstGeom>
          <a:noFill/>
        </p:spPr>
        <p:txBody>
          <a:bodyPr wrap="square">
            <a:spAutoFit/>
          </a:bodyPr>
          <a:lstStyle/>
          <a:p>
            <a:pPr algn="l"/>
            <a:r>
              <a:rPr sz="1300" b="0">
                <a:solidFill>
                  <a:srgbClr val="202834"/>
                </a:solidFill>
                <a:latin typeface="Segoe UI"/>
              </a:rPr>
              <a:t>Detected input/output files from code:</a:t>
            </a:r>
          </a:p>
          <a:p>
            <a:pPr algn="l"/>
            <a:r>
              <a:rPr sz="1300" b="0">
                <a:solidFill>
                  <a:srgbClr val="202834"/>
                </a:solidFill>
                <a:latin typeface="Segoe UI"/>
              </a:rPr>
              <a:t>- ../data/tmdb_5000_movies.csv</a:t>
            </a:r>
          </a:p>
          <a:p>
            <a:pPr algn="l"/>
            <a:r>
              <a:rPr sz="1300" b="0">
                <a:solidFill>
                  <a:srgbClr val="202834"/>
                </a:solidFill>
                <a:latin typeface="Segoe UI"/>
              </a:rPr>
              <a:t>- ../data/tmdb_5000_credits.csv</a:t>
            </a:r>
          </a:p>
          <a:p>
            <a:pPr algn="l"/>
            <a:r>
              <a:rPr sz="1300" b="0">
                <a:solidFill>
                  <a:srgbClr val="202834"/>
                </a:solidFill>
                <a:latin typeface="Segoe UI"/>
              </a:rPr>
              <a:t>- ../data/processed_movies.csv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1: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Movie Recommendation System - Data Preprocessing</a:t>
            </a:r>
          </a:p>
          <a:p>
            <a:pPr algn="l"/>
            <a:r>
              <a:rPr sz="1300" b="0">
                <a:solidFill>
                  <a:srgbClr val="202834"/>
                </a:solidFill>
                <a:latin typeface="Segoe UI"/>
              </a:rPr>
              <a:t>This notebook prepares the TMDB 5000 datasets for downstream vectorization and recommendation modeling.</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2: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1). Import Required libraries</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3: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175</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import pandas as pd</a:t>
            </a:r>
          </a:p>
          <a:p>
            <a:pPr algn="l"/>
            <a:r>
              <a:rPr sz="1100" b="0">
                <a:solidFill>
                  <a:srgbClr val="202834"/>
                </a:solidFill>
                <a:latin typeface="Consolas"/>
              </a:rPr>
              <a:t>import numpy as np</a:t>
            </a:r>
          </a:p>
          <a:p>
            <a:pPr algn="l"/>
            <a:r>
              <a:rPr sz="1100" b="0">
                <a:solidFill>
                  <a:srgbClr val="202834"/>
                </a:solidFill>
                <a:latin typeface="Consolas"/>
              </a:rPr>
              <a:t>import ast</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Is cell me custom logic/calculation execute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4: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Load Source Datasets</a:t>
            </a:r>
          </a:p>
          <a:p>
            <a:pPr algn="l"/>
            <a:r>
              <a:rPr sz="1300" b="0">
                <a:solidFill>
                  <a:srgbClr val="202834"/>
                </a:solidFill>
                <a:latin typeface="Segoe UI"/>
              </a:rPr>
              <a:t>Load the movies and credits files, then inspect shape and sample rows.</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5: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2) Load datasets</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6: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176</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movies = pd.read_csv("../data/tmdb_5000_movies.csv")</a:t>
            </a:r>
          </a:p>
          <a:p>
            <a:pPr algn="l"/>
            <a:r>
              <a:rPr sz="1100" b="0">
                <a:solidFill>
                  <a:srgbClr val="202834"/>
                </a:solidFill>
                <a:latin typeface="Consolas"/>
              </a:rPr>
              <a:t>credits = pd.read_csv("../data/tmdb_5000_credits.csv")</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Dataset files load kiye ja rahe hain.</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7: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177</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movies.shape</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(4803, 20)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8: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178</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credits.shape</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(4803, 4)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9: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179</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movies.head(2)</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budget \</a:t>
            </a:r>
          </a:p>
          <a:p>
            <a:pPr algn="l"/>
            <a:r>
              <a:rPr sz="1300" b="0">
                <a:solidFill>
                  <a:srgbClr val="202834"/>
                </a:solidFill>
                <a:latin typeface="Segoe UI"/>
              </a:rPr>
              <a:t>0 237000000</a:t>
            </a:r>
          </a:p>
          <a:p>
            <a:pPr algn="l"/>
            <a:r>
              <a:rPr sz="1300" b="0">
                <a:solidFill>
                  <a:srgbClr val="202834"/>
                </a:solidFill>
                <a:latin typeface="Segoe UI"/>
              </a:rPr>
              <a:t>1 300000000</a:t>
            </a:r>
          </a:p>
          <a:p>
            <a:pPr algn="l"/>
            <a:r>
              <a:rPr sz="1300" b="0">
                <a:solidFill>
                  <a:srgbClr val="202834"/>
                </a:solidFill>
                <a:latin typeface="Segoe UI"/>
              </a:rPr>
              <a:t>genres \</a:t>
            </a:r>
          </a:p>
          <a:p>
            <a:pPr algn="l"/>
            <a:r>
              <a:rPr sz="1300" b="0">
                <a:solidFill>
                  <a:srgbClr val="202834"/>
                </a:solidFill>
                <a:latin typeface="Segoe UI"/>
              </a:rPr>
              <a:t>0 [{"id": 28, "name": "Action"}, {"id": 12, "name": "Adventure"}, {"id": 14, "name": "Fantasy"}, {"id": 878, "name": "...</a:t>
            </a:r>
          </a:p>
          <a:p>
            <a:pPr algn="l"/>
            <a:r>
              <a:rPr sz="1300" b="0">
                <a:solidFill>
                  <a:srgbClr val="202834"/>
                </a:solidFill>
                <a:latin typeface="Segoe UI"/>
              </a:rPr>
              <a:t>1 [{"id": 12, "name": "Adventure"}, {"id": 14, "name": "Fantasy"}, {"id": 28, "name": "Action"}]</a:t>
            </a:r>
          </a:p>
          <a:p>
            <a:pPr algn="l"/>
            <a:r>
              <a:rPr sz="1300" b="0">
                <a:solidFill>
                  <a:srgbClr val="202834"/>
                </a:solidFill>
                <a:latin typeface="Segoe UI"/>
              </a:rPr>
              <a:t>homepage id \</a:t>
            </a:r>
          </a:p>
          <a:p>
            <a:pPr algn="l"/>
            <a:r>
              <a:rPr sz="1300" b="0">
                <a:solidFill>
                  <a:srgbClr val="202834"/>
                </a:solidFill>
                <a:latin typeface="Segoe UI"/>
              </a:rPr>
              <a:t>0 http://www.avatarmovie.com/ 19995</a:t>
            </a:r>
          </a:p>
          <a:p>
            <a:pPr algn="l"/>
            <a:r>
              <a:rPr sz="1300" b="0">
                <a:solidFill>
                  <a:srgbClr val="202834"/>
                </a:solidFill>
                <a:latin typeface="Segoe UI"/>
              </a:rPr>
              <a:t>1 http://disney.go.com/disneypictures/pirates/ 285</a:t>
            </a:r>
          </a:p>
          <a:p>
            <a:pPr algn="l"/>
            <a:r>
              <a:rPr sz="1300" b="0">
                <a:solidFill>
                  <a:srgbClr val="202834"/>
                </a:solidFill>
                <a:latin typeface="Segoe UI"/>
              </a:rPr>
              <a:t>keywords \</a:t>
            </a:r>
          </a:p>
          <a:p>
            <a:pPr algn="l"/>
            <a:r>
              <a:rPr sz="1300" b="0">
                <a:solidFill>
                  <a:srgbClr val="202834"/>
                </a:solidFill>
                <a:latin typeface="Segoe UI"/>
              </a:rPr>
              <a:t>0 [{"id": 1463, "name": "culture clash"}, {"id": 2964, "name": "future"}, {"id": 3386, "name": "space war"}, {"id": 33...</a:t>
            </a:r>
          </a:p>
          <a:p>
            <a:pPr algn="l"/>
            <a:r>
              <a:rPr sz="1300" b="0">
                <a:solidFill>
                  <a:srgbClr val="202834"/>
                </a:solidFill>
                <a:latin typeface="Segoe UI"/>
              </a:rPr>
              <a:t>1 [{"id": 270, "name": "ocean"}, {"id": 726, "name": "drug abuse"}, {"id": 911, "name": "exotic island"}, {"id": 1319,...</a:t>
            </a:r>
          </a:p>
          <a:p>
            <a:pPr algn="l"/>
            <a:r>
              <a:rPr sz="1300" b="0">
                <a:solidFill>
                  <a:srgbClr val="202834"/>
                </a:solidFill>
                <a:latin typeface="Segoe UI"/>
              </a:rPr>
              <a:t>original_language original_title \</a:t>
            </a:r>
          </a:p>
          <a:p>
            <a:pPr algn="l"/>
            <a:r>
              <a:rPr sz="1300" b="0">
                <a:solidFill>
                  <a:srgbClr val="202834"/>
                </a:solidFill>
                <a:latin typeface="Segoe UI"/>
              </a:rPr>
              <a:t>0 en Avatar</a:t>
            </a:r>
          </a:p>
          <a:p>
            <a:pPr algn="l"/>
            <a:r>
              <a:rPr sz="1300" b="0">
                <a:solidFill>
                  <a:srgbClr val="202834"/>
                </a:solidFill>
                <a:latin typeface="Segoe UI"/>
              </a:rPr>
              <a:t>1 en Pirates of the Caribbean: At World's End</a:t>
            </a:r>
          </a:p>
          <a:p>
            <a:pPr algn="l"/>
            <a:r>
              <a:rPr sz="1300" b="0">
                <a:solidFill>
                  <a:srgbClr val="202834"/>
                </a:solidFill>
                <a:latin typeface="Segoe UI"/>
              </a:rPr>
              <a:t>overview \</a:t>
            </a:r>
          </a:p>
          <a:p>
            <a:pPr algn="l"/>
            <a:r>
              <a:rPr sz="1300" b="0">
                <a:solidFill>
                  <a:srgbClr val="202834"/>
                </a:solidFill>
                <a:latin typeface="Segoe UI"/>
              </a:rPr>
              <a:t>... (trimmed)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10: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180</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credits.head(2)</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movie_id title \</a:t>
            </a:r>
          </a:p>
          <a:p>
            <a:pPr algn="l"/>
            <a:r>
              <a:rPr sz="1300" b="0">
                <a:solidFill>
                  <a:srgbClr val="202834"/>
                </a:solidFill>
                <a:latin typeface="Segoe UI"/>
              </a:rPr>
              <a:t>0 19995 Avatar</a:t>
            </a:r>
          </a:p>
          <a:p>
            <a:pPr algn="l"/>
            <a:r>
              <a:rPr sz="1300" b="0">
                <a:solidFill>
                  <a:srgbClr val="202834"/>
                </a:solidFill>
                <a:latin typeface="Segoe UI"/>
              </a:rPr>
              <a:t>1 285 Pirates of the Caribbean: At World's End</a:t>
            </a:r>
          </a:p>
          <a:p>
            <a:pPr algn="l"/>
            <a:r>
              <a:rPr sz="1300" b="0">
                <a:solidFill>
                  <a:srgbClr val="202834"/>
                </a:solidFill>
                <a:latin typeface="Segoe UI"/>
              </a:rPr>
              <a:t>cast \</a:t>
            </a:r>
          </a:p>
          <a:p>
            <a:pPr algn="l"/>
            <a:r>
              <a:rPr sz="1300" b="0">
                <a:solidFill>
                  <a:srgbClr val="202834"/>
                </a:solidFill>
                <a:latin typeface="Segoe UI"/>
              </a:rPr>
              <a:t>0 [{"cast_id": 242, "character": "Jake Sully", "credit_id": "5602a8a7c3a3685532001c9a", "gender": 2, "id": 65731, "nam...</a:t>
            </a:r>
          </a:p>
          <a:p>
            <a:pPr algn="l"/>
            <a:r>
              <a:rPr sz="1300" b="0">
                <a:solidFill>
                  <a:srgbClr val="202834"/>
                </a:solidFill>
                <a:latin typeface="Segoe UI"/>
              </a:rPr>
              <a:t>1 [{"cast_id": 4, "character": "Captain Jack Sparrow", "credit_id": "52fe4232c3a36847f800b50d", "gender": 2, "id": 85,...</a:t>
            </a:r>
          </a:p>
          <a:p>
            <a:pPr algn="l"/>
            <a:r>
              <a:rPr sz="1300" b="0">
                <a:solidFill>
                  <a:srgbClr val="202834"/>
                </a:solidFill>
                <a:latin typeface="Segoe UI"/>
              </a:rPr>
              <a:t>crew</a:t>
            </a:r>
          </a:p>
          <a:p>
            <a:pPr algn="l"/>
            <a:r>
              <a:rPr sz="1300" b="0">
                <a:solidFill>
                  <a:srgbClr val="202834"/>
                </a:solidFill>
                <a:latin typeface="Segoe UI"/>
              </a:rPr>
              <a:t>0 [{"credit_id": "52fe48009251416c750aca23", "department": "Editing", "gender": 0, "id": 1721, "job": "Editor", "name"...</a:t>
            </a:r>
          </a:p>
          <a:p>
            <a:pPr algn="l"/>
            <a:r>
              <a:rPr sz="1300" b="0">
                <a:solidFill>
                  <a:srgbClr val="202834"/>
                </a:solidFill>
                <a:latin typeface="Segoe UI"/>
              </a:rPr>
              <a:t>1 [{"credit_id": "52fe4232c3a36847f800b579", "department": "Camera", "gender": 2, "id": 120, "job": "Director of Photo...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11: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181</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movies.columns</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Is cell me custom logic/calculation execute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Index(['budget', 'genres', 'homepage', 'id', 'keywords', 'original_language',</a:t>
            </a:r>
          </a:p>
          <a:p>
            <a:pPr algn="l"/>
            <a:r>
              <a:rPr sz="1300" b="0">
                <a:solidFill>
                  <a:srgbClr val="202834"/>
                </a:solidFill>
                <a:latin typeface="Segoe UI"/>
              </a:rPr>
              <a:t>'original_title', 'overview', 'popularity', 'production_companies',</a:t>
            </a:r>
          </a:p>
          <a:p>
            <a:pPr algn="l"/>
            <a:r>
              <a:rPr sz="1300" b="0">
                <a:solidFill>
                  <a:srgbClr val="202834"/>
                </a:solidFill>
                <a:latin typeface="Segoe UI"/>
              </a:rPr>
              <a:t>'production_countries', 'release_date', 'revenue', 'runtime',</a:t>
            </a:r>
          </a:p>
          <a:p>
            <a:pPr algn="l"/>
            <a:r>
              <a:rPr sz="1300" b="0">
                <a:solidFill>
                  <a:srgbClr val="202834"/>
                </a:solidFill>
                <a:latin typeface="Segoe UI"/>
              </a:rPr>
              <a:t>'spoken_languages', 'status', 'tagline', 'title', 'vote_average',</a:t>
            </a:r>
          </a:p>
          <a:p>
            <a:pPr algn="l"/>
            <a:r>
              <a:rPr sz="1300" b="0">
                <a:solidFill>
                  <a:srgbClr val="202834"/>
                </a:solidFill>
                <a:latin typeface="Segoe UI"/>
              </a:rPr>
              <a:t>'vote_count'],</a:t>
            </a:r>
          </a:p>
          <a:p>
            <a:pPr algn="l"/>
            <a:r>
              <a:rPr sz="1300" b="0">
                <a:solidFill>
                  <a:srgbClr val="202834"/>
                </a:solidFill>
                <a:latin typeface="Segoe UI"/>
              </a:rPr>
              <a:t>dtype='object')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12: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182</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credits.columns</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Is cell me custom logic/calculation execute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Index(['movie_id', 'title', 'cast', 'crew'], dtype='object')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13: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Rename Identifier Column</a:t>
            </a:r>
          </a:p>
          <a:p>
            <a:pPr algn="l"/>
            <a:r>
              <a:rPr sz="1300" b="0">
                <a:solidFill>
                  <a:srgbClr val="202834"/>
                </a:solidFill>
                <a:latin typeface="Segoe UI"/>
              </a:rPr>
              <a:t>Rename id in the movies dataset to movie_id so both datasets share a consistent merge key.</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14: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3) Rename the movie id column for consistency</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15: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183</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movies = movies.rename(columns={"id":"movie_id"})</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Is cell me custom logic/calculation execute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16: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184</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movies.columns.tolist()[:12]</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Is cell me custom logic/calculation execute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['budget',</a:t>
            </a:r>
          </a:p>
          <a:p>
            <a:pPr algn="l"/>
            <a:r>
              <a:rPr sz="1300" b="0">
                <a:solidFill>
                  <a:srgbClr val="202834"/>
                </a:solidFill>
                <a:latin typeface="Segoe UI"/>
              </a:rPr>
              <a:t>'genres',</a:t>
            </a:r>
          </a:p>
          <a:p>
            <a:pPr algn="l"/>
            <a:r>
              <a:rPr sz="1300" b="0">
                <a:solidFill>
                  <a:srgbClr val="202834"/>
                </a:solidFill>
                <a:latin typeface="Segoe UI"/>
              </a:rPr>
              <a:t>'homepage',</a:t>
            </a:r>
          </a:p>
          <a:p>
            <a:pPr algn="l"/>
            <a:r>
              <a:rPr sz="1300" b="0">
                <a:solidFill>
                  <a:srgbClr val="202834"/>
                </a:solidFill>
                <a:latin typeface="Segoe UI"/>
              </a:rPr>
              <a:t>'movie_id',</a:t>
            </a:r>
          </a:p>
          <a:p>
            <a:pPr algn="l"/>
            <a:r>
              <a:rPr sz="1300" b="0">
                <a:solidFill>
                  <a:srgbClr val="202834"/>
                </a:solidFill>
                <a:latin typeface="Segoe UI"/>
              </a:rPr>
              <a:t>'keywords',</a:t>
            </a:r>
          </a:p>
          <a:p>
            <a:pPr algn="l"/>
            <a:r>
              <a:rPr sz="1300" b="0">
                <a:solidFill>
                  <a:srgbClr val="202834"/>
                </a:solidFill>
                <a:latin typeface="Segoe UI"/>
              </a:rPr>
              <a:t>'original_language',</a:t>
            </a:r>
          </a:p>
          <a:p>
            <a:pPr algn="l"/>
            <a:r>
              <a:rPr sz="1300" b="0">
                <a:solidFill>
                  <a:srgbClr val="202834"/>
                </a:solidFill>
                <a:latin typeface="Segoe UI"/>
              </a:rPr>
              <a:t>'original_title',</a:t>
            </a:r>
          </a:p>
          <a:p>
            <a:pPr algn="l"/>
            <a:r>
              <a:rPr sz="1300" b="0">
                <a:solidFill>
                  <a:srgbClr val="202834"/>
                </a:solidFill>
                <a:latin typeface="Segoe UI"/>
              </a:rPr>
              <a:t>'overview',</a:t>
            </a:r>
          </a:p>
          <a:p>
            <a:pPr algn="l"/>
            <a:r>
              <a:rPr sz="1300" b="0">
                <a:solidFill>
                  <a:srgbClr val="202834"/>
                </a:solidFill>
                <a:latin typeface="Segoe UI"/>
              </a:rPr>
              <a:t>'popularity',</a:t>
            </a:r>
          </a:p>
          <a:p>
            <a:pPr algn="l"/>
            <a:r>
              <a:rPr sz="1300" b="0">
                <a:solidFill>
                  <a:srgbClr val="202834"/>
                </a:solidFill>
                <a:latin typeface="Segoe UI"/>
              </a:rPr>
              <a:t>'production_companies',</a:t>
            </a:r>
          </a:p>
          <a:p>
            <a:pPr algn="l"/>
            <a:r>
              <a:rPr sz="1300" b="0">
                <a:solidFill>
                  <a:srgbClr val="202834"/>
                </a:solidFill>
                <a:latin typeface="Segoe UI"/>
              </a:rPr>
              <a:t>'production_countries',</a:t>
            </a:r>
          </a:p>
          <a:p>
            <a:pPr algn="l"/>
            <a:r>
              <a:rPr sz="1300" b="0">
                <a:solidFill>
                  <a:srgbClr val="202834"/>
                </a:solidFill>
                <a:latin typeface="Segoe UI"/>
              </a:rPr>
              <a:t>'release_date']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17: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4) Keep only relevant columns from credits and normalize movie_id types</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18: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185</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credits.columns</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Is cell me custom logic/calculation execute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Index(['movie_id', 'title', 'cast', 'crew'], dtype='object')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19: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186</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credits = credits[["movie_id", "cast", "crew"]].copy()</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Is cell me custom logic/calculation execute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20: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187</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credits.head()</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movie_id \</a:t>
            </a:r>
          </a:p>
          <a:p>
            <a:pPr algn="l"/>
            <a:r>
              <a:rPr sz="1300" b="0">
                <a:solidFill>
                  <a:srgbClr val="202834"/>
                </a:solidFill>
                <a:latin typeface="Segoe UI"/>
              </a:rPr>
              <a:t>0 19995</a:t>
            </a:r>
          </a:p>
          <a:p>
            <a:pPr algn="l"/>
            <a:r>
              <a:rPr sz="1300" b="0">
                <a:solidFill>
                  <a:srgbClr val="202834"/>
                </a:solidFill>
                <a:latin typeface="Segoe UI"/>
              </a:rPr>
              <a:t>1 285</a:t>
            </a:r>
          </a:p>
          <a:p>
            <a:pPr algn="l"/>
            <a:r>
              <a:rPr sz="1300" b="0">
                <a:solidFill>
                  <a:srgbClr val="202834"/>
                </a:solidFill>
                <a:latin typeface="Segoe UI"/>
              </a:rPr>
              <a:t>2 206647</a:t>
            </a:r>
          </a:p>
          <a:p>
            <a:pPr algn="l"/>
            <a:r>
              <a:rPr sz="1300" b="0">
                <a:solidFill>
                  <a:srgbClr val="202834"/>
                </a:solidFill>
                <a:latin typeface="Segoe UI"/>
              </a:rPr>
              <a:t>3 49026</a:t>
            </a:r>
          </a:p>
          <a:p>
            <a:pPr algn="l"/>
            <a:r>
              <a:rPr sz="1300" b="0">
                <a:solidFill>
                  <a:srgbClr val="202834"/>
                </a:solidFill>
                <a:latin typeface="Segoe UI"/>
              </a:rPr>
              <a:t>4 49529</a:t>
            </a:r>
          </a:p>
          <a:p>
            <a:pPr algn="l"/>
            <a:r>
              <a:rPr sz="1300" b="0">
                <a:solidFill>
                  <a:srgbClr val="202834"/>
                </a:solidFill>
                <a:latin typeface="Segoe UI"/>
              </a:rPr>
              <a:t>cast \</a:t>
            </a:r>
          </a:p>
          <a:p>
            <a:pPr algn="l"/>
            <a:r>
              <a:rPr sz="1300" b="0">
                <a:solidFill>
                  <a:srgbClr val="202834"/>
                </a:solidFill>
                <a:latin typeface="Segoe UI"/>
              </a:rPr>
              <a:t>0 [{"cast_id": 242, "character": "Jake Sully", "credit_id": "5602a8a7c3a3685532001c9a", "gender": 2, "id": 65731, "nam...</a:t>
            </a:r>
          </a:p>
          <a:p>
            <a:pPr algn="l"/>
            <a:r>
              <a:rPr sz="1300" b="0">
                <a:solidFill>
                  <a:srgbClr val="202834"/>
                </a:solidFill>
                <a:latin typeface="Segoe UI"/>
              </a:rPr>
              <a:t>1 [{"cast_id": 4, "character": "Captain Jack Sparrow", "credit_id": "52fe4232c3a36847f800b50d", "gender": 2, "id": 85,...</a:t>
            </a:r>
          </a:p>
          <a:p>
            <a:pPr algn="l"/>
            <a:r>
              <a:rPr sz="1300" b="0">
                <a:solidFill>
                  <a:srgbClr val="202834"/>
                </a:solidFill>
                <a:latin typeface="Segoe UI"/>
              </a:rPr>
              <a:t>2 [{"cast_id": 1, "character": "James Bond", "credit_id": "52fe4d22c3a368484e1d8d6b", "gender": 2, "id": 8784, "name":...</a:t>
            </a:r>
          </a:p>
          <a:p>
            <a:pPr algn="l"/>
            <a:r>
              <a:rPr sz="1300" b="0">
                <a:solidFill>
                  <a:srgbClr val="202834"/>
                </a:solidFill>
                <a:latin typeface="Segoe UI"/>
              </a:rPr>
              <a:t>3 [{"cast_id": 2, "character": "Bruce Wayne / Batman", "credit_id": "52fe4781c3a36847f8139869", "gender": 2, "id": 389...</a:t>
            </a:r>
          </a:p>
          <a:p>
            <a:pPr algn="l"/>
            <a:r>
              <a:rPr sz="1300" b="0">
                <a:solidFill>
                  <a:srgbClr val="202834"/>
                </a:solidFill>
                <a:latin typeface="Segoe UI"/>
              </a:rPr>
              <a:t>4 [{"cast_id": 5, "character": "John Carter", "credit_id": "52fe479ac3a36847f813ea75", "gender": 2, "id": 60900, "name...</a:t>
            </a:r>
          </a:p>
          <a:p>
            <a:pPr algn="l"/>
            <a:r>
              <a:rPr sz="1300" b="0">
                <a:solidFill>
                  <a:srgbClr val="202834"/>
                </a:solidFill>
                <a:latin typeface="Segoe UI"/>
              </a:rPr>
              <a:t>crew</a:t>
            </a:r>
          </a:p>
          <a:p>
            <a:pPr algn="l"/>
            <a:r>
              <a:rPr sz="1300" b="0">
                <a:solidFill>
                  <a:srgbClr val="202834"/>
                </a:solidFill>
                <a:latin typeface="Segoe UI"/>
              </a:rPr>
              <a:t>0 [{"credit_id": "52fe48009251416c750aca23", "department": "Editing", "gender": 0, "id": 1721, "job": "Editor", "name"...</a:t>
            </a:r>
          </a:p>
          <a:p>
            <a:pPr algn="l"/>
            <a:r>
              <a:rPr sz="1300" b="0">
                <a:solidFill>
                  <a:srgbClr val="202834"/>
                </a:solidFill>
                <a:latin typeface="Segoe UI"/>
              </a:rPr>
              <a:t>1 [{"credit_id": "52fe4232c3a36847f800b579", "department": "Camera", "gender": 2, "id": 120, "... (trimmed)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21: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Now numeric to all the values</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22: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188</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movies["movie_id"] = pd.to_numeric(movies["movie_id"], errors="coerce")</a:t>
            </a:r>
          </a:p>
          <a:p>
            <a:pPr algn="l"/>
            <a:r>
              <a:rPr sz="1100" b="0">
                <a:solidFill>
                  <a:srgbClr val="202834"/>
                </a:solidFill>
                <a:latin typeface="Consolas"/>
              </a:rPr>
              <a:t>credits["movie_id"] = pd.to_numeric(credits["movie_id"], errors="coerce")</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Is cell me custom logic/calculation execute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23: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189</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movies["movie_id"].head()</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0 19995</a:t>
            </a:r>
          </a:p>
          <a:p>
            <a:pPr algn="l"/>
            <a:r>
              <a:rPr sz="1300" b="0">
                <a:solidFill>
                  <a:srgbClr val="202834"/>
                </a:solidFill>
                <a:latin typeface="Segoe UI"/>
              </a:rPr>
              <a:t>1 285</a:t>
            </a:r>
          </a:p>
          <a:p>
            <a:pPr algn="l"/>
            <a:r>
              <a:rPr sz="1300" b="0">
                <a:solidFill>
                  <a:srgbClr val="202834"/>
                </a:solidFill>
                <a:latin typeface="Segoe UI"/>
              </a:rPr>
              <a:t>2 206647</a:t>
            </a:r>
          </a:p>
          <a:p>
            <a:pPr algn="l"/>
            <a:r>
              <a:rPr sz="1300" b="0">
                <a:solidFill>
                  <a:srgbClr val="202834"/>
                </a:solidFill>
                <a:latin typeface="Segoe UI"/>
              </a:rPr>
              <a:t>3 49026</a:t>
            </a:r>
          </a:p>
          <a:p>
            <a:pPr algn="l"/>
            <a:r>
              <a:rPr sz="1300" b="0">
                <a:solidFill>
                  <a:srgbClr val="202834"/>
                </a:solidFill>
                <a:latin typeface="Segoe UI"/>
              </a:rPr>
              <a:t>4 49529</a:t>
            </a:r>
          </a:p>
          <a:p>
            <a:pPr algn="l"/>
            <a:r>
              <a:rPr sz="1300" b="0">
                <a:solidFill>
                  <a:srgbClr val="202834"/>
                </a:solidFill>
                <a:latin typeface="Segoe UI"/>
              </a:rPr>
              <a:t>Name: movie_id, dtype: int64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24: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190</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movies.isnull().sum()</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budget 0</a:t>
            </a:r>
          </a:p>
          <a:p>
            <a:pPr algn="l"/>
            <a:r>
              <a:rPr sz="1300" b="0">
                <a:solidFill>
                  <a:srgbClr val="202834"/>
                </a:solidFill>
                <a:latin typeface="Segoe UI"/>
              </a:rPr>
              <a:t>genres 0</a:t>
            </a:r>
          </a:p>
          <a:p>
            <a:pPr algn="l"/>
            <a:r>
              <a:rPr sz="1300" b="0">
                <a:solidFill>
                  <a:srgbClr val="202834"/>
                </a:solidFill>
                <a:latin typeface="Segoe UI"/>
              </a:rPr>
              <a:t>homepage 3091</a:t>
            </a:r>
          </a:p>
          <a:p>
            <a:pPr algn="l"/>
            <a:r>
              <a:rPr sz="1300" b="0">
                <a:solidFill>
                  <a:srgbClr val="202834"/>
                </a:solidFill>
                <a:latin typeface="Segoe UI"/>
              </a:rPr>
              <a:t>movie_id 0</a:t>
            </a:r>
          </a:p>
          <a:p>
            <a:pPr algn="l"/>
            <a:r>
              <a:rPr sz="1300" b="0">
                <a:solidFill>
                  <a:srgbClr val="202834"/>
                </a:solidFill>
                <a:latin typeface="Segoe UI"/>
              </a:rPr>
              <a:t>keywords 0</a:t>
            </a:r>
          </a:p>
          <a:p>
            <a:pPr algn="l"/>
            <a:r>
              <a:rPr sz="1300" b="0">
                <a:solidFill>
                  <a:srgbClr val="202834"/>
                </a:solidFill>
                <a:latin typeface="Segoe UI"/>
              </a:rPr>
              <a:t>original_language 0</a:t>
            </a:r>
          </a:p>
          <a:p>
            <a:pPr algn="l"/>
            <a:r>
              <a:rPr sz="1300" b="0">
                <a:solidFill>
                  <a:srgbClr val="202834"/>
                </a:solidFill>
                <a:latin typeface="Segoe UI"/>
              </a:rPr>
              <a:t>original_title 0</a:t>
            </a:r>
          </a:p>
          <a:p>
            <a:pPr algn="l"/>
            <a:r>
              <a:rPr sz="1300" b="0">
                <a:solidFill>
                  <a:srgbClr val="202834"/>
                </a:solidFill>
                <a:latin typeface="Segoe UI"/>
              </a:rPr>
              <a:t>overview 3</a:t>
            </a:r>
          </a:p>
          <a:p>
            <a:pPr algn="l"/>
            <a:r>
              <a:rPr sz="1300" b="0">
                <a:solidFill>
                  <a:srgbClr val="202834"/>
                </a:solidFill>
                <a:latin typeface="Segoe UI"/>
              </a:rPr>
              <a:t>popularity 0</a:t>
            </a:r>
          </a:p>
          <a:p>
            <a:pPr algn="l"/>
            <a:r>
              <a:rPr sz="1300" b="0">
                <a:solidFill>
                  <a:srgbClr val="202834"/>
                </a:solidFill>
                <a:latin typeface="Segoe UI"/>
              </a:rPr>
              <a:t>production_companies 0</a:t>
            </a:r>
          </a:p>
          <a:p>
            <a:pPr algn="l"/>
            <a:r>
              <a:rPr sz="1300" b="0">
                <a:solidFill>
                  <a:srgbClr val="202834"/>
                </a:solidFill>
                <a:latin typeface="Segoe UI"/>
              </a:rPr>
              <a:t>production_countries 0</a:t>
            </a:r>
          </a:p>
          <a:p>
            <a:pPr algn="l"/>
            <a:r>
              <a:rPr sz="1300" b="0">
                <a:solidFill>
                  <a:srgbClr val="202834"/>
                </a:solidFill>
                <a:latin typeface="Segoe UI"/>
              </a:rPr>
              <a:t>release_date 1</a:t>
            </a:r>
          </a:p>
          <a:p>
            <a:pPr algn="l"/>
            <a:r>
              <a:rPr sz="1300" b="0">
                <a:solidFill>
                  <a:srgbClr val="202834"/>
                </a:solidFill>
                <a:latin typeface="Segoe UI"/>
              </a:rPr>
              <a:t>revenue 0</a:t>
            </a:r>
          </a:p>
          <a:p>
            <a:pPr algn="l"/>
            <a:r>
              <a:rPr sz="1300" b="0">
                <a:solidFill>
                  <a:srgbClr val="202834"/>
                </a:solidFill>
                <a:latin typeface="Segoe UI"/>
              </a:rPr>
              <a:t>runtime 2</a:t>
            </a:r>
          </a:p>
          <a:p>
            <a:pPr algn="l"/>
            <a:r>
              <a:rPr sz="1300" b="0">
                <a:solidFill>
                  <a:srgbClr val="202834"/>
                </a:solidFill>
                <a:latin typeface="Segoe UI"/>
              </a:rPr>
              <a:t>spoken_languages 0</a:t>
            </a:r>
          </a:p>
          <a:p>
            <a:pPr algn="l"/>
            <a:r>
              <a:rPr sz="1300" b="0">
                <a:solidFill>
                  <a:srgbClr val="202834"/>
                </a:solidFill>
                <a:latin typeface="Segoe UI"/>
              </a:rPr>
              <a:t>status 0</a:t>
            </a:r>
          </a:p>
          <a:p>
            <a:pPr algn="l"/>
            <a:r>
              <a:rPr sz="1300" b="0">
                <a:solidFill>
                  <a:srgbClr val="202834"/>
                </a:solidFill>
                <a:latin typeface="Segoe UI"/>
              </a:rPr>
              <a:t>... (trimmed)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25: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192</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credits.head()</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movie_id \</a:t>
            </a:r>
          </a:p>
          <a:p>
            <a:pPr algn="l"/>
            <a:r>
              <a:rPr sz="1300" b="0">
                <a:solidFill>
                  <a:srgbClr val="202834"/>
                </a:solidFill>
                <a:latin typeface="Segoe UI"/>
              </a:rPr>
              <a:t>0 19995</a:t>
            </a:r>
          </a:p>
          <a:p>
            <a:pPr algn="l"/>
            <a:r>
              <a:rPr sz="1300" b="0">
                <a:solidFill>
                  <a:srgbClr val="202834"/>
                </a:solidFill>
                <a:latin typeface="Segoe UI"/>
              </a:rPr>
              <a:t>1 285</a:t>
            </a:r>
          </a:p>
          <a:p>
            <a:pPr algn="l"/>
            <a:r>
              <a:rPr sz="1300" b="0">
                <a:solidFill>
                  <a:srgbClr val="202834"/>
                </a:solidFill>
                <a:latin typeface="Segoe UI"/>
              </a:rPr>
              <a:t>2 206647</a:t>
            </a:r>
          </a:p>
          <a:p>
            <a:pPr algn="l"/>
            <a:r>
              <a:rPr sz="1300" b="0">
                <a:solidFill>
                  <a:srgbClr val="202834"/>
                </a:solidFill>
                <a:latin typeface="Segoe UI"/>
              </a:rPr>
              <a:t>3 49026</a:t>
            </a:r>
          </a:p>
          <a:p>
            <a:pPr algn="l"/>
            <a:r>
              <a:rPr sz="1300" b="0">
                <a:solidFill>
                  <a:srgbClr val="202834"/>
                </a:solidFill>
                <a:latin typeface="Segoe UI"/>
              </a:rPr>
              <a:t>4 49529</a:t>
            </a:r>
          </a:p>
          <a:p>
            <a:pPr algn="l"/>
            <a:r>
              <a:rPr sz="1300" b="0">
                <a:solidFill>
                  <a:srgbClr val="202834"/>
                </a:solidFill>
                <a:latin typeface="Segoe UI"/>
              </a:rPr>
              <a:t>cast \</a:t>
            </a:r>
          </a:p>
          <a:p>
            <a:pPr algn="l"/>
            <a:r>
              <a:rPr sz="1300" b="0">
                <a:solidFill>
                  <a:srgbClr val="202834"/>
                </a:solidFill>
                <a:latin typeface="Segoe UI"/>
              </a:rPr>
              <a:t>0 [{"cast_id": 242, "character": "Jake Sully", "credit_id": "5602a8a7c3a3685532001c9a", "gender": 2, "id": 65731, "nam...</a:t>
            </a:r>
          </a:p>
          <a:p>
            <a:pPr algn="l"/>
            <a:r>
              <a:rPr sz="1300" b="0">
                <a:solidFill>
                  <a:srgbClr val="202834"/>
                </a:solidFill>
                <a:latin typeface="Segoe UI"/>
              </a:rPr>
              <a:t>1 [{"cast_id": 4, "character": "Captain Jack Sparrow", "credit_id": "52fe4232c3a36847f800b50d", "gender": 2, "id": 85,...</a:t>
            </a:r>
          </a:p>
          <a:p>
            <a:pPr algn="l"/>
            <a:r>
              <a:rPr sz="1300" b="0">
                <a:solidFill>
                  <a:srgbClr val="202834"/>
                </a:solidFill>
                <a:latin typeface="Segoe UI"/>
              </a:rPr>
              <a:t>2 [{"cast_id": 1, "character": "James Bond", "credit_id": "52fe4d22c3a368484e1d8d6b", "gender": 2, "id": 8784, "name":...</a:t>
            </a:r>
          </a:p>
          <a:p>
            <a:pPr algn="l"/>
            <a:r>
              <a:rPr sz="1300" b="0">
                <a:solidFill>
                  <a:srgbClr val="202834"/>
                </a:solidFill>
                <a:latin typeface="Segoe UI"/>
              </a:rPr>
              <a:t>3 [{"cast_id": 2, "character": "Bruce Wayne / Batman", "credit_id": "52fe4781c3a36847f8139869", "gender": 2, "id": 389...</a:t>
            </a:r>
          </a:p>
          <a:p>
            <a:pPr algn="l"/>
            <a:r>
              <a:rPr sz="1300" b="0">
                <a:solidFill>
                  <a:srgbClr val="202834"/>
                </a:solidFill>
                <a:latin typeface="Segoe UI"/>
              </a:rPr>
              <a:t>4 [{"cast_id": 5, "character": "John Carter", "credit_id": "52fe479ac3a36847f813ea75", "gender": 2, "id": 60900, "name...</a:t>
            </a:r>
          </a:p>
          <a:p>
            <a:pPr algn="l"/>
            <a:r>
              <a:rPr sz="1300" b="0">
                <a:solidFill>
                  <a:srgbClr val="202834"/>
                </a:solidFill>
                <a:latin typeface="Segoe UI"/>
              </a:rPr>
              <a:t>crew</a:t>
            </a:r>
          </a:p>
          <a:p>
            <a:pPr algn="l"/>
            <a:r>
              <a:rPr sz="1300" b="0">
                <a:solidFill>
                  <a:srgbClr val="202834"/>
                </a:solidFill>
                <a:latin typeface="Segoe UI"/>
              </a:rPr>
              <a:t>0 [{"credit_id": "52fe48009251416c750aca23", "department": "Editing", "gender": 0, "id": 1721, "job": "Editor", "name"...</a:t>
            </a:r>
          </a:p>
          <a:p>
            <a:pPr algn="l"/>
            <a:r>
              <a:rPr sz="1300" b="0">
                <a:solidFill>
                  <a:srgbClr val="202834"/>
                </a:solidFill>
                <a:latin typeface="Segoe UI"/>
              </a:rPr>
              <a:t>1 [{"credit_id": "52fe4232c3a36847f800b579", "department": "Camera", "gender": 2, "id": 120, "... (trimmed)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26: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193</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credits.isnull().sum()</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movie_id 0</a:t>
            </a:r>
          </a:p>
          <a:p>
            <a:pPr algn="l"/>
            <a:r>
              <a:rPr sz="1300" b="0">
                <a:solidFill>
                  <a:srgbClr val="202834"/>
                </a:solidFill>
                <a:latin typeface="Segoe UI"/>
              </a:rPr>
              <a:t>cast 0</a:t>
            </a:r>
          </a:p>
          <a:p>
            <a:pPr algn="l"/>
            <a:r>
              <a:rPr sz="1300" b="0">
                <a:solidFill>
                  <a:srgbClr val="202834"/>
                </a:solidFill>
                <a:latin typeface="Segoe UI"/>
              </a:rPr>
              <a:t>crew 0</a:t>
            </a:r>
          </a:p>
          <a:p>
            <a:pPr algn="l"/>
            <a:r>
              <a:rPr sz="1300" b="0">
                <a:solidFill>
                  <a:srgbClr val="202834"/>
                </a:solidFill>
                <a:latin typeface="Segoe UI"/>
              </a:rPr>
              <a:t>dtype: int64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27: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Delete the those have no movies (NAN)</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28: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194</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print(movies["movie_id"].dtype)</a:t>
            </a:r>
          </a:p>
          <a:p>
            <a:pPr algn="l"/>
            <a:r>
              <a:rPr sz="1100" b="0">
                <a:solidFill>
                  <a:srgbClr val="202834"/>
                </a:solidFill>
                <a:latin typeface="Consolas"/>
              </a:rPr>
              <a:t>print(credits["movie_id"].dtype)</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Is cell me custom logic/calculation execute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int64</a:t>
            </a:r>
          </a:p>
          <a:p>
            <a:pPr algn="l"/>
            <a:r>
              <a:rPr sz="1300" b="0">
                <a:solidFill>
                  <a:srgbClr val="202834"/>
                </a:solidFill>
                <a:latin typeface="Segoe UI"/>
              </a:rPr>
              <a:t>int64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29: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195</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movies.shape</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(4803, 20)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30: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196</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credits.shape</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(4803, 3)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31: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197</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movies = movies.dropna(subset=["movie_id"]).copy()</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Missing ya duplicate rows cleanup ki ja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32: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198</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movies.isnull().sum()</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budget 0</a:t>
            </a:r>
          </a:p>
          <a:p>
            <a:pPr algn="l"/>
            <a:r>
              <a:rPr sz="1300" b="0">
                <a:solidFill>
                  <a:srgbClr val="202834"/>
                </a:solidFill>
                <a:latin typeface="Segoe UI"/>
              </a:rPr>
              <a:t>genres 0</a:t>
            </a:r>
          </a:p>
          <a:p>
            <a:pPr algn="l"/>
            <a:r>
              <a:rPr sz="1300" b="0">
                <a:solidFill>
                  <a:srgbClr val="202834"/>
                </a:solidFill>
                <a:latin typeface="Segoe UI"/>
              </a:rPr>
              <a:t>homepage 3091</a:t>
            </a:r>
          </a:p>
          <a:p>
            <a:pPr algn="l"/>
            <a:r>
              <a:rPr sz="1300" b="0">
                <a:solidFill>
                  <a:srgbClr val="202834"/>
                </a:solidFill>
                <a:latin typeface="Segoe UI"/>
              </a:rPr>
              <a:t>movie_id 0</a:t>
            </a:r>
          </a:p>
          <a:p>
            <a:pPr algn="l"/>
            <a:r>
              <a:rPr sz="1300" b="0">
                <a:solidFill>
                  <a:srgbClr val="202834"/>
                </a:solidFill>
                <a:latin typeface="Segoe UI"/>
              </a:rPr>
              <a:t>keywords 0</a:t>
            </a:r>
          </a:p>
          <a:p>
            <a:pPr algn="l"/>
            <a:r>
              <a:rPr sz="1300" b="0">
                <a:solidFill>
                  <a:srgbClr val="202834"/>
                </a:solidFill>
                <a:latin typeface="Segoe UI"/>
              </a:rPr>
              <a:t>original_language 0</a:t>
            </a:r>
          </a:p>
          <a:p>
            <a:pPr algn="l"/>
            <a:r>
              <a:rPr sz="1300" b="0">
                <a:solidFill>
                  <a:srgbClr val="202834"/>
                </a:solidFill>
                <a:latin typeface="Segoe UI"/>
              </a:rPr>
              <a:t>original_title 0</a:t>
            </a:r>
          </a:p>
          <a:p>
            <a:pPr algn="l"/>
            <a:r>
              <a:rPr sz="1300" b="0">
                <a:solidFill>
                  <a:srgbClr val="202834"/>
                </a:solidFill>
                <a:latin typeface="Segoe UI"/>
              </a:rPr>
              <a:t>overview 3</a:t>
            </a:r>
          </a:p>
          <a:p>
            <a:pPr algn="l"/>
            <a:r>
              <a:rPr sz="1300" b="0">
                <a:solidFill>
                  <a:srgbClr val="202834"/>
                </a:solidFill>
                <a:latin typeface="Segoe UI"/>
              </a:rPr>
              <a:t>popularity 0</a:t>
            </a:r>
          </a:p>
          <a:p>
            <a:pPr algn="l"/>
            <a:r>
              <a:rPr sz="1300" b="0">
                <a:solidFill>
                  <a:srgbClr val="202834"/>
                </a:solidFill>
                <a:latin typeface="Segoe UI"/>
              </a:rPr>
              <a:t>production_companies 0</a:t>
            </a:r>
          </a:p>
          <a:p>
            <a:pPr algn="l"/>
            <a:r>
              <a:rPr sz="1300" b="0">
                <a:solidFill>
                  <a:srgbClr val="202834"/>
                </a:solidFill>
                <a:latin typeface="Segoe UI"/>
              </a:rPr>
              <a:t>production_countries 0</a:t>
            </a:r>
          </a:p>
          <a:p>
            <a:pPr algn="l"/>
            <a:r>
              <a:rPr sz="1300" b="0">
                <a:solidFill>
                  <a:srgbClr val="202834"/>
                </a:solidFill>
                <a:latin typeface="Segoe UI"/>
              </a:rPr>
              <a:t>release_date 1</a:t>
            </a:r>
          </a:p>
          <a:p>
            <a:pPr algn="l"/>
            <a:r>
              <a:rPr sz="1300" b="0">
                <a:solidFill>
                  <a:srgbClr val="202834"/>
                </a:solidFill>
                <a:latin typeface="Segoe UI"/>
              </a:rPr>
              <a:t>revenue 0</a:t>
            </a:r>
          </a:p>
          <a:p>
            <a:pPr algn="l"/>
            <a:r>
              <a:rPr sz="1300" b="0">
                <a:solidFill>
                  <a:srgbClr val="202834"/>
                </a:solidFill>
                <a:latin typeface="Segoe UI"/>
              </a:rPr>
              <a:t>runtime 2</a:t>
            </a:r>
          </a:p>
          <a:p>
            <a:pPr algn="l"/>
            <a:r>
              <a:rPr sz="1300" b="0">
                <a:solidFill>
                  <a:srgbClr val="202834"/>
                </a:solidFill>
                <a:latin typeface="Segoe UI"/>
              </a:rPr>
              <a:t>spoken_languages 0</a:t>
            </a:r>
          </a:p>
          <a:p>
            <a:pPr algn="l"/>
            <a:r>
              <a:rPr sz="1300" b="0">
                <a:solidFill>
                  <a:srgbClr val="202834"/>
                </a:solidFill>
                <a:latin typeface="Segoe UI"/>
              </a:rPr>
              <a:t>status 0</a:t>
            </a:r>
          </a:p>
          <a:p>
            <a:pPr algn="l"/>
            <a:r>
              <a:rPr sz="1300" b="0">
                <a:solidFill>
                  <a:srgbClr val="202834"/>
                </a:solidFill>
                <a:latin typeface="Segoe UI"/>
              </a:rPr>
              <a:t>... (trimmed)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33: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199</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credits = credits.dropna(subset=["movie_id"]).copy()</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Missing ya duplicate rows cleanup ki ja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34: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200</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credits.isnull().sum()</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movie_id 0</a:t>
            </a:r>
          </a:p>
          <a:p>
            <a:pPr algn="l"/>
            <a:r>
              <a:rPr sz="1300" b="0">
                <a:solidFill>
                  <a:srgbClr val="202834"/>
                </a:solidFill>
                <a:latin typeface="Segoe UI"/>
              </a:rPr>
              <a:t>cast 0</a:t>
            </a:r>
          </a:p>
          <a:p>
            <a:pPr algn="l"/>
            <a:r>
              <a:rPr sz="1300" b="0">
                <a:solidFill>
                  <a:srgbClr val="202834"/>
                </a:solidFill>
                <a:latin typeface="Segoe UI"/>
              </a:rPr>
              <a:t>crew 0</a:t>
            </a:r>
          </a:p>
          <a:p>
            <a:pPr algn="l"/>
            <a:r>
              <a:rPr sz="1300" b="0">
                <a:solidFill>
                  <a:srgbClr val="202834"/>
                </a:solidFill>
                <a:latin typeface="Segoe UI"/>
              </a:rPr>
              <a:t>dtype: int64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35: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208</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movies.duplicated().sum()</a:t>
            </a:r>
          </a:p>
          <a:p>
            <a:pPr algn="l"/>
            <a:r>
              <a:rPr sz="1100" b="0">
                <a:solidFill>
                  <a:srgbClr val="202834"/>
                </a:solidFill>
                <a:latin typeface="Consolas"/>
              </a:rPr>
              <a:t>credits.duplicated().sum()</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Is cell me custom logic/calculation execute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np.int64(0)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36: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Now all objective values convert into integer form</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37: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209</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movies["movie_id"] = movies["movie_id"].astype(int)</a:t>
            </a:r>
          </a:p>
          <a:p>
            <a:pPr algn="l"/>
            <a:r>
              <a:rPr sz="1100" b="0">
                <a:solidFill>
                  <a:srgbClr val="202834"/>
                </a:solidFill>
                <a:latin typeface="Consolas"/>
              </a:rPr>
              <a:t>credits["movie_id"] = credits["movie_id"].astype(int)</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Is cell me custom logic/calculation execute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38: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210</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print("Movies rows after id normalization:", movies.shape[0])</a:t>
            </a:r>
          </a:p>
          <a:p>
            <a:pPr algn="l"/>
            <a:r>
              <a:rPr sz="1100" b="0">
                <a:solidFill>
                  <a:srgbClr val="202834"/>
                </a:solidFill>
                <a:latin typeface="Consolas"/>
              </a:rPr>
              <a:t>print("Credits rows after id normalization:", credits.shape[0])</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Movies rows after id normalization: 4803</a:t>
            </a:r>
          </a:p>
          <a:p>
            <a:pPr algn="l"/>
            <a:r>
              <a:rPr sz="1300" b="0">
                <a:solidFill>
                  <a:srgbClr val="202834"/>
                </a:solidFill>
                <a:latin typeface="Segoe UI"/>
              </a:rPr>
              <a:t>Credits rows after id normalization: 4803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39: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5) Merge movies and credits on movie_id</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40: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credits = credits.drop_duplicates(subset=["movie_id"]).copy()</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Missing ya duplicate rows cleanup ki ja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41: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211</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merged_movies = movies.merge(</a:t>
            </a:r>
          </a:p>
          <a:p>
            <a:pPr algn="l"/>
            <a:r>
              <a:rPr sz="1100" b="0">
                <a:solidFill>
                  <a:srgbClr val="202834"/>
                </a:solidFill>
                <a:latin typeface="Consolas"/>
              </a:rPr>
              <a:t>    credits,</a:t>
            </a:r>
          </a:p>
          <a:p>
            <a:pPr algn="l"/>
            <a:r>
              <a:rPr sz="1100" b="0">
                <a:solidFill>
                  <a:srgbClr val="202834"/>
                </a:solidFill>
                <a:latin typeface="Consolas"/>
              </a:rPr>
              <a:t>    on="movie_id",</a:t>
            </a:r>
          </a:p>
          <a:p>
            <a:pPr algn="l"/>
            <a:r>
              <a:rPr sz="1100" b="0">
                <a:solidFill>
                  <a:srgbClr val="202834"/>
                </a:solidFill>
                <a:latin typeface="Consolas"/>
              </a:rPr>
              <a:t>    how="inner",</a:t>
            </a:r>
          </a:p>
          <a:p>
            <a:pPr algn="l"/>
            <a:r>
              <a:rPr sz="1100" b="0">
                <a:solidFill>
                  <a:srgbClr val="202834"/>
                </a:solidFill>
                <a:latin typeface="Consolas"/>
              </a:rPr>
              <a:t>    validate="one_to_one"</a:t>
            </a:r>
          </a:p>
          <a:p>
            <a:pPr algn="l"/>
            <a:r>
              <a:rPr sz="1100" b="0">
                <a:solidFill>
                  <a:srgbClr val="202834"/>
                </a:solidFill>
                <a:latin typeface="Consolas"/>
              </a:rPr>
              <a:t>)</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Multiple datasets combine/merge ho rahe hain.</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42: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Safety deduplication step (should not remove anything with one_to_one validation).</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43: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212</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before_dedup = merged_movies.shape[0]</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44: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213</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before_dedup</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Is cell me custom logic/calculation execute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4803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45: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214</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merged_movies = merged_movies.drop_duplicates(subset=["movie_id"]).reset_index(drop=True)</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Missing ya duplicate rows cleanup ki ja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46: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216</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merged_movies.head(2)</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budget \</a:t>
            </a:r>
          </a:p>
          <a:p>
            <a:pPr algn="l"/>
            <a:r>
              <a:rPr sz="1300" b="0">
                <a:solidFill>
                  <a:srgbClr val="202834"/>
                </a:solidFill>
                <a:latin typeface="Segoe UI"/>
              </a:rPr>
              <a:t>0 237000000</a:t>
            </a:r>
          </a:p>
          <a:p>
            <a:pPr algn="l"/>
            <a:r>
              <a:rPr sz="1300" b="0">
                <a:solidFill>
                  <a:srgbClr val="202834"/>
                </a:solidFill>
                <a:latin typeface="Segoe UI"/>
              </a:rPr>
              <a:t>1 300000000</a:t>
            </a:r>
          </a:p>
          <a:p>
            <a:pPr algn="l"/>
            <a:r>
              <a:rPr sz="1300" b="0">
                <a:solidFill>
                  <a:srgbClr val="202834"/>
                </a:solidFill>
                <a:latin typeface="Segoe UI"/>
              </a:rPr>
              <a:t>genres \</a:t>
            </a:r>
          </a:p>
          <a:p>
            <a:pPr algn="l"/>
            <a:r>
              <a:rPr sz="1300" b="0">
                <a:solidFill>
                  <a:srgbClr val="202834"/>
                </a:solidFill>
                <a:latin typeface="Segoe UI"/>
              </a:rPr>
              <a:t>0 [{"id": 28, "name": "Action"}, {"id": 12, "name": "Adventure"}, {"id": 14, "name": "Fantasy"}, {"id": 878, "name": "...</a:t>
            </a:r>
          </a:p>
          <a:p>
            <a:pPr algn="l"/>
            <a:r>
              <a:rPr sz="1300" b="0">
                <a:solidFill>
                  <a:srgbClr val="202834"/>
                </a:solidFill>
                <a:latin typeface="Segoe UI"/>
              </a:rPr>
              <a:t>1 [{"id": 12, "name": "Adventure"}, {"id": 14, "name": "Fantasy"}, {"id": 28, "name": "Action"}]</a:t>
            </a:r>
          </a:p>
          <a:p>
            <a:pPr algn="l"/>
            <a:r>
              <a:rPr sz="1300" b="0">
                <a:solidFill>
                  <a:srgbClr val="202834"/>
                </a:solidFill>
                <a:latin typeface="Segoe UI"/>
              </a:rPr>
              <a:t>homepage movie_id \</a:t>
            </a:r>
          </a:p>
          <a:p>
            <a:pPr algn="l"/>
            <a:r>
              <a:rPr sz="1300" b="0">
                <a:solidFill>
                  <a:srgbClr val="202834"/>
                </a:solidFill>
                <a:latin typeface="Segoe UI"/>
              </a:rPr>
              <a:t>0 http://www.avatarmovie.com/ 19995</a:t>
            </a:r>
          </a:p>
          <a:p>
            <a:pPr algn="l"/>
            <a:r>
              <a:rPr sz="1300" b="0">
                <a:solidFill>
                  <a:srgbClr val="202834"/>
                </a:solidFill>
                <a:latin typeface="Segoe UI"/>
              </a:rPr>
              <a:t>1 http://disney.go.com/disneypictures/pirates/ 285</a:t>
            </a:r>
          </a:p>
          <a:p>
            <a:pPr algn="l"/>
            <a:r>
              <a:rPr sz="1300" b="0">
                <a:solidFill>
                  <a:srgbClr val="202834"/>
                </a:solidFill>
                <a:latin typeface="Segoe UI"/>
              </a:rPr>
              <a:t>keywords \</a:t>
            </a:r>
          </a:p>
          <a:p>
            <a:pPr algn="l"/>
            <a:r>
              <a:rPr sz="1300" b="0">
                <a:solidFill>
                  <a:srgbClr val="202834"/>
                </a:solidFill>
                <a:latin typeface="Segoe UI"/>
              </a:rPr>
              <a:t>0 [{"id": 1463, "name": "culture clash"}, {"id": 2964, "name": "future"}, {"id": 3386, "name": "space war"}, {"id": 33...</a:t>
            </a:r>
          </a:p>
          <a:p>
            <a:pPr algn="l"/>
            <a:r>
              <a:rPr sz="1300" b="0">
                <a:solidFill>
                  <a:srgbClr val="202834"/>
                </a:solidFill>
                <a:latin typeface="Segoe UI"/>
              </a:rPr>
              <a:t>1 [{"id": 270, "name": "ocean"}, {"id": 726, "name": "drug abuse"}, {"id": 911, "name": "exotic island"}, {"id": 1319,...</a:t>
            </a:r>
          </a:p>
          <a:p>
            <a:pPr algn="l"/>
            <a:r>
              <a:rPr sz="1300" b="0">
                <a:solidFill>
                  <a:srgbClr val="202834"/>
                </a:solidFill>
                <a:latin typeface="Segoe UI"/>
              </a:rPr>
              <a:t>original_language original_title \</a:t>
            </a:r>
          </a:p>
          <a:p>
            <a:pPr algn="l"/>
            <a:r>
              <a:rPr sz="1300" b="0">
                <a:solidFill>
                  <a:srgbClr val="202834"/>
                </a:solidFill>
                <a:latin typeface="Segoe UI"/>
              </a:rPr>
              <a:t>0 en Avatar</a:t>
            </a:r>
          </a:p>
          <a:p>
            <a:pPr algn="l"/>
            <a:r>
              <a:rPr sz="1300" b="0">
                <a:solidFill>
                  <a:srgbClr val="202834"/>
                </a:solidFill>
                <a:latin typeface="Segoe UI"/>
              </a:rPr>
              <a:t>1 en Pirates of the Caribbean: At World's End</a:t>
            </a:r>
          </a:p>
          <a:p>
            <a:pPr algn="l"/>
            <a:r>
              <a:rPr sz="1300" b="0">
                <a:solidFill>
                  <a:srgbClr val="202834"/>
                </a:solidFill>
                <a:latin typeface="Segoe UI"/>
              </a:rPr>
              <a:t>overview \</a:t>
            </a:r>
          </a:p>
          <a:p>
            <a:pPr algn="l"/>
            <a:r>
              <a:rPr sz="1300" b="0">
                <a:solidFill>
                  <a:srgbClr val="202834"/>
                </a:solidFill>
                <a:latin typeface="Segoe UI"/>
              </a:rPr>
              <a:t>... (trimmed)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47: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217</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after_dedup = merged_movies.shape[0]</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48: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218</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after_dedup</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Is cell me custom logic/calculation execute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4803</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49: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219</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duplicate_count = merged_movies.duplicated(subset=["movie_id"]).sum()</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Is cell me custom logic/calculation execute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50: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220</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duplicate_count</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Is cell me custom logic/calculation execute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np.int64(0)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51: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221</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print("Merged shape:", merged_movies.shape)</a:t>
            </a:r>
          </a:p>
          <a:p>
            <a:pPr algn="l"/>
            <a:r>
              <a:rPr sz="1100" b="0">
                <a:solidFill>
                  <a:srgbClr val="202834"/>
                </a:solidFill>
                <a:latin typeface="Consolas"/>
              </a:rPr>
              <a:t>print("Rows removed by safety deduplication:", before_dedup - after_dedup)</a:t>
            </a:r>
          </a:p>
          <a:p>
            <a:pPr algn="l"/>
            <a:r>
              <a:rPr sz="1100" b="0">
                <a:solidFill>
                  <a:srgbClr val="202834"/>
                </a:solidFill>
                <a:latin typeface="Consolas"/>
              </a:rPr>
              <a:t>print("Duplicate movie_id count after merge:", duplicate_count)</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Multiple datasets combine/merge ho rahe hain.</a:t>
            </a:r>
          </a:p>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Merged shape: (4803, 22)</a:t>
            </a:r>
          </a:p>
          <a:p>
            <a:pPr algn="l"/>
            <a:r>
              <a:rPr sz="1300" b="0">
                <a:solidFill>
                  <a:srgbClr val="202834"/>
                </a:solidFill>
                <a:latin typeface="Segoe UI"/>
              </a:rPr>
              <a:t>Rows removed by safety deduplication: 0</a:t>
            </a:r>
          </a:p>
          <a:p>
            <a:pPr algn="l"/>
            <a:r>
              <a:rPr sz="1300" b="0">
                <a:solidFill>
                  <a:srgbClr val="202834"/>
                </a:solidFill>
                <a:latin typeface="Segoe UI"/>
              </a:rPr>
              <a:t>Duplicate movie_id count after merge: 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52: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Quick merged preview</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53: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222</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print(merged_movies[["movie_id", "title", "cast", "crew"]].head(2))</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movie_id title \</a:t>
            </a:r>
          </a:p>
          <a:p>
            <a:pPr algn="l"/>
            <a:r>
              <a:rPr sz="1300" b="0">
                <a:solidFill>
                  <a:srgbClr val="202834"/>
                </a:solidFill>
                <a:latin typeface="Segoe UI"/>
              </a:rPr>
              <a:t>0 19995 Avatar</a:t>
            </a:r>
          </a:p>
          <a:p>
            <a:pPr algn="l"/>
            <a:r>
              <a:rPr sz="1300" b="0">
                <a:solidFill>
                  <a:srgbClr val="202834"/>
                </a:solidFill>
                <a:latin typeface="Segoe UI"/>
              </a:rPr>
              <a:t>1 285 Pirates of the Caribbean: At World's End</a:t>
            </a:r>
          </a:p>
          <a:p>
            <a:pPr algn="l"/>
            <a:r>
              <a:rPr sz="1300" b="0">
                <a:solidFill>
                  <a:srgbClr val="202834"/>
                </a:solidFill>
                <a:latin typeface="Segoe UI"/>
              </a:rPr>
              <a:t>cast \</a:t>
            </a:r>
          </a:p>
          <a:p>
            <a:pPr algn="l"/>
            <a:r>
              <a:rPr sz="1300" b="0">
                <a:solidFill>
                  <a:srgbClr val="202834"/>
                </a:solidFill>
                <a:latin typeface="Segoe UI"/>
              </a:rPr>
              <a:t>0 [{"cast_id": 242, "character": "Jake Sully", "credit_id": "5602a8a7c3a3685532001c9a", "gender": 2, "id": 65731, "nam...</a:t>
            </a:r>
          </a:p>
          <a:p>
            <a:pPr algn="l"/>
            <a:r>
              <a:rPr sz="1300" b="0">
                <a:solidFill>
                  <a:srgbClr val="202834"/>
                </a:solidFill>
                <a:latin typeface="Segoe UI"/>
              </a:rPr>
              <a:t>1 [{"cast_id": 4, "character": "Captain Jack Sparrow", "credit_id": "52fe4232c3a36847f800b50d", "gender": 2, "id": 85,...</a:t>
            </a:r>
          </a:p>
          <a:p>
            <a:pPr algn="l"/>
            <a:r>
              <a:rPr sz="1300" b="0">
                <a:solidFill>
                  <a:srgbClr val="202834"/>
                </a:solidFill>
                <a:latin typeface="Segoe UI"/>
              </a:rPr>
              <a:t>crew</a:t>
            </a:r>
          </a:p>
          <a:p>
            <a:pPr algn="l"/>
            <a:r>
              <a:rPr sz="1300" b="0">
                <a:solidFill>
                  <a:srgbClr val="202834"/>
                </a:solidFill>
                <a:latin typeface="Segoe UI"/>
              </a:rPr>
              <a:t>0 [{"credit_id": "52fe48009251416c750aca23", "department": "Editing", "gender": 0, "id": 1721, "job": "Editor", "name"...</a:t>
            </a:r>
          </a:p>
          <a:p>
            <a:pPr algn="l"/>
            <a:r>
              <a:rPr sz="1300" b="0">
                <a:solidFill>
                  <a:srgbClr val="202834"/>
                </a:solidFill>
                <a:latin typeface="Segoe UI"/>
              </a:rPr>
              <a:t>1 [{"credit_id": "52fe4232c3a36847f800b579", "department": "Camera", "gender": 2, "id": 120, "job": "Director of Photo...</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54: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Select Required Columns</a:t>
            </a:r>
          </a:p>
          <a:p>
            <a:pPr algn="l"/>
            <a:r>
              <a:rPr sz="1300" b="0">
                <a:solidFill>
                  <a:srgbClr val="202834"/>
                </a:solidFill>
                <a:latin typeface="Segoe UI"/>
              </a:rPr>
              <a:t>We keep only the fields needed for content-based recommendation feature engineering.</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55: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224</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merged_movies.columns</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Is cell me custom logic/calculation execute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Index(['budget', 'genres', 'homepage', 'movie_id', 'keywords',</a:t>
            </a:r>
          </a:p>
          <a:p>
            <a:pPr algn="l"/>
            <a:r>
              <a:rPr sz="1300" b="0">
                <a:solidFill>
                  <a:srgbClr val="202834"/>
                </a:solidFill>
                <a:latin typeface="Segoe UI"/>
              </a:rPr>
              <a:t>'original_language', 'original_title', 'overview', 'popularity',</a:t>
            </a:r>
          </a:p>
          <a:p>
            <a:pPr algn="l"/>
            <a:r>
              <a:rPr sz="1300" b="0">
                <a:solidFill>
                  <a:srgbClr val="202834"/>
                </a:solidFill>
                <a:latin typeface="Segoe UI"/>
              </a:rPr>
              <a:t>'production_companies', 'production_countries', 'release_date',</a:t>
            </a:r>
          </a:p>
          <a:p>
            <a:pPr algn="l"/>
            <a:r>
              <a:rPr sz="1300" b="0">
                <a:solidFill>
                  <a:srgbClr val="202834"/>
                </a:solidFill>
                <a:latin typeface="Segoe UI"/>
              </a:rPr>
              <a:t>'revenue', 'runtime', 'spoken_languages', 'status', 'tagline', 'title',</a:t>
            </a:r>
          </a:p>
          <a:p>
            <a:pPr algn="l"/>
            <a:r>
              <a:rPr sz="1300" b="0">
                <a:solidFill>
                  <a:srgbClr val="202834"/>
                </a:solidFill>
                <a:latin typeface="Segoe UI"/>
              </a:rPr>
              <a:t>'vote_average', 'vote_count', 'cast', 'crew'],</a:t>
            </a:r>
          </a:p>
          <a:p>
            <a:pPr algn="l"/>
            <a:r>
              <a:rPr sz="1300" b="0">
                <a:solidFill>
                  <a:srgbClr val="202834"/>
                </a:solidFill>
                <a:latin typeface="Segoe UI"/>
              </a:rPr>
              <a:t>dtype='object')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56: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6) Select required columns</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57: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225</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required_columns = [</a:t>
            </a:r>
          </a:p>
          <a:p>
            <a:pPr algn="l"/>
            <a:r>
              <a:rPr sz="1100" b="0">
                <a:solidFill>
                  <a:srgbClr val="202834"/>
                </a:solidFill>
                <a:latin typeface="Consolas"/>
              </a:rPr>
              <a:t>    "movie_id",</a:t>
            </a:r>
          </a:p>
          <a:p>
            <a:pPr algn="l"/>
            <a:r>
              <a:rPr sz="1100" b="0">
                <a:solidFill>
                  <a:srgbClr val="202834"/>
                </a:solidFill>
                <a:latin typeface="Consolas"/>
              </a:rPr>
              <a:t>    "title",</a:t>
            </a:r>
          </a:p>
          <a:p>
            <a:pPr algn="l"/>
            <a:r>
              <a:rPr sz="1100" b="0">
                <a:solidFill>
                  <a:srgbClr val="202834"/>
                </a:solidFill>
                <a:latin typeface="Consolas"/>
              </a:rPr>
              <a:t>    "overview",</a:t>
            </a:r>
          </a:p>
          <a:p>
            <a:pPr algn="l"/>
            <a:r>
              <a:rPr sz="1100" b="0">
                <a:solidFill>
                  <a:srgbClr val="202834"/>
                </a:solidFill>
                <a:latin typeface="Consolas"/>
              </a:rPr>
              <a:t>    "genres",</a:t>
            </a:r>
          </a:p>
          <a:p>
            <a:pPr algn="l"/>
            <a:r>
              <a:rPr sz="1100" b="0">
                <a:solidFill>
                  <a:srgbClr val="202834"/>
                </a:solidFill>
                <a:latin typeface="Consolas"/>
              </a:rPr>
              <a:t>    "keywords",</a:t>
            </a:r>
          </a:p>
          <a:p>
            <a:pPr algn="l"/>
            <a:r>
              <a:rPr sz="1100" b="0">
                <a:solidFill>
                  <a:srgbClr val="202834"/>
                </a:solidFill>
                <a:latin typeface="Consolas"/>
              </a:rPr>
              <a:t>    "cast",</a:t>
            </a:r>
          </a:p>
          <a:p>
            <a:pPr algn="l"/>
            <a:r>
              <a:rPr sz="1100" b="0">
                <a:solidFill>
                  <a:srgbClr val="202834"/>
                </a:solidFill>
                <a:latin typeface="Consolas"/>
              </a:rPr>
              <a:t>    "crew"</a:t>
            </a:r>
          </a:p>
          <a:p>
            <a:pPr algn="l"/>
            <a:r>
              <a:rPr sz="1100" b="0">
                <a:solidFill>
                  <a:srgbClr val="202834"/>
                </a:solidFill>
                <a:latin typeface="Consolas"/>
              </a:rPr>
              <a:t>]</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Is cell me custom logic/calculation execute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58: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226</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movies_df = merged_movies[required_columns].copy()</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Is cell me custom logic/calculation execute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59: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228</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print("Selected dataframe shape:", movies_df.shape)</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Selected dataframe shape: (4803, 7)</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60: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229</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movies_df.head(2)</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movie_id title \</a:t>
            </a:r>
          </a:p>
          <a:p>
            <a:pPr algn="l"/>
            <a:r>
              <a:rPr sz="1300" b="0">
                <a:solidFill>
                  <a:srgbClr val="202834"/>
                </a:solidFill>
                <a:latin typeface="Segoe UI"/>
              </a:rPr>
              <a:t>0 19995 Avatar</a:t>
            </a:r>
          </a:p>
          <a:p>
            <a:pPr algn="l"/>
            <a:r>
              <a:rPr sz="1300" b="0">
                <a:solidFill>
                  <a:srgbClr val="202834"/>
                </a:solidFill>
                <a:latin typeface="Segoe UI"/>
              </a:rPr>
              <a:t>1 285 Pirates of the Caribbean: At World's End</a:t>
            </a:r>
          </a:p>
          <a:p>
            <a:pPr algn="l"/>
            <a:r>
              <a:rPr sz="1300" b="0">
                <a:solidFill>
                  <a:srgbClr val="202834"/>
                </a:solidFill>
                <a:latin typeface="Segoe UI"/>
              </a:rPr>
              <a:t>overview \</a:t>
            </a:r>
          </a:p>
          <a:p>
            <a:pPr algn="l"/>
            <a:r>
              <a:rPr sz="1300" b="0">
                <a:solidFill>
                  <a:srgbClr val="202834"/>
                </a:solidFill>
                <a:latin typeface="Segoe UI"/>
              </a:rPr>
              <a:t>0 In the 22nd century, a paraplegic Marine is dispatched to the moon Pandora on a unique mission, but becomes torn bet...</a:t>
            </a:r>
          </a:p>
          <a:p>
            <a:pPr algn="l"/>
            <a:r>
              <a:rPr sz="1300" b="0">
                <a:solidFill>
                  <a:srgbClr val="202834"/>
                </a:solidFill>
                <a:latin typeface="Segoe UI"/>
              </a:rPr>
              <a:t>1 Captain Barbossa, long believed to be dead, has come back to life and is headed to the edge of the Earth with Will T...</a:t>
            </a:r>
          </a:p>
          <a:p>
            <a:pPr algn="l"/>
            <a:r>
              <a:rPr sz="1300" b="0">
                <a:solidFill>
                  <a:srgbClr val="202834"/>
                </a:solidFill>
                <a:latin typeface="Segoe UI"/>
              </a:rPr>
              <a:t>genres \</a:t>
            </a:r>
          </a:p>
          <a:p>
            <a:pPr algn="l"/>
            <a:r>
              <a:rPr sz="1300" b="0">
                <a:solidFill>
                  <a:srgbClr val="202834"/>
                </a:solidFill>
                <a:latin typeface="Segoe UI"/>
              </a:rPr>
              <a:t>0 [{"id": 28, "name": "Action"}, {"id": 12, "name": "Adventure"}, {"id": 14, "name": "Fantasy"}, {"id": 878, "name": "...</a:t>
            </a:r>
          </a:p>
          <a:p>
            <a:pPr algn="l"/>
            <a:r>
              <a:rPr sz="1300" b="0">
                <a:solidFill>
                  <a:srgbClr val="202834"/>
                </a:solidFill>
                <a:latin typeface="Segoe UI"/>
              </a:rPr>
              <a:t>1 [{"id": 12, "name": "Adventure"}, {"id": 14, "name": "Fantasy"}, {"id": 28, "name": "Action"}]</a:t>
            </a:r>
          </a:p>
          <a:p>
            <a:pPr algn="l"/>
            <a:r>
              <a:rPr sz="1300" b="0">
                <a:solidFill>
                  <a:srgbClr val="202834"/>
                </a:solidFill>
                <a:latin typeface="Segoe UI"/>
              </a:rPr>
              <a:t>keywords \</a:t>
            </a:r>
          </a:p>
          <a:p>
            <a:pPr algn="l"/>
            <a:r>
              <a:rPr sz="1300" b="0">
                <a:solidFill>
                  <a:srgbClr val="202834"/>
                </a:solidFill>
                <a:latin typeface="Segoe UI"/>
              </a:rPr>
              <a:t>0 [{"id": 1463, "name": "culture clash"}, {"id": 2964, "name": "future"}, {"id": 3386, "name": "space war"}, {"id": 33...</a:t>
            </a:r>
          </a:p>
          <a:p>
            <a:pPr algn="l"/>
            <a:r>
              <a:rPr sz="1300" b="0">
                <a:solidFill>
                  <a:srgbClr val="202834"/>
                </a:solidFill>
                <a:latin typeface="Segoe UI"/>
              </a:rPr>
              <a:t>1 [{"id": 270, "name": "ocean"}, {"id": 726, "name": "drug abuse"}, {"id": 911, "name": "exotic island"}, {"id": 1319,...</a:t>
            </a:r>
          </a:p>
          <a:p>
            <a:pPr algn="l"/>
            <a:r>
              <a:rPr sz="1300" b="0">
                <a:solidFill>
                  <a:srgbClr val="202834"/>
                </a:solidFill>
                <a:latin typeface="Segoe UI"/>
              </a:rPr>
              <a:t>cast \</a:t>
            </a:r>
          </a:p>
          <a:p>
            <a:pPr algn="l"/>
            <a:r>
              <a:rPr sz="1300" b="0">
                <a:solidFill>
                  <a:srgbClr val="202834"/>
                </a:solidFill>
                <a:latin typeface="Segoe UI"/>
              </a:rPr>
              <a:t>0 [{"cast_id": 242, "character": "Jake Sully", "credit_id": "560... (trimmed)</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61: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Now</a:t>
            </a:r>
          </a:p>
          <a:p>
            <a:pPr algn="l"/>
            <a:r>
              <a:rPr sz="1300" b="0">
                <a:solidFill>
                  <a:srgbClr val="202834"/>
                </a:solidFill>
                <a:latin typeface="Segoe UI"/>
              </a:rPr>
              <a:t>7) Inspect missing values before dropping</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62: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230</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missing_summary = movies_df.isnull().sum()</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63: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231</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missing_summary</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Is cell me custom logic/calculation execute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movie_id 0</a:t>
            </a:r>
          </a:p>
          <a:p>
            <a:pPr algn="l"/>
            <a:r>
              <a:rPr sz="1300" b="0">
                <a:solidFill>
                  <a:srgbClr val="202834"/>
                </a:solidFill>
                <a:latin typeface="Segoe UI"/>
              </a:rPr>
              <a:t>title 0</a:t>
            </a:r>
          </a:p>
          <a:p>
            <a:pPr algn="l"/>
            <a:r>
              <a:rPr sz="1300" b="0">
                <a:solidFill>
                  <a:srgbClr val="202834"/>
                </a:solidFill>
                <a:latin typeface="Segoe UI"/>
              </a:rPr>
              <a:t>overview 3</a:t>
            </a:r>
          </a:p>
          <a:p>
            <a:pPr algn="l"/>
            <a:r>
              <a:rPr sz="1300" b="0">
                <a:solidFill>
                  <a:srgbClr val="202834"/>
                </a:solidFill>
                <a:latin typeface="Segoe UI"/>
              </a:rPr>
              <a:t>genres 0</a:t>
            </a:r>
          </a:p>
          <a:p>
            <a:pPr algn="l"/>
            <a:r>
              <a:rPr sz="1300" b="0">
                <a:solidFill>
                  <a:srgbClr val="202834"/>
                </a:solidFill>
                <a:latin typeface="Segoe UI"/>
              </a:rPr>
              <a:t>keywords 0</a:t>
            </a:r>
          </a:p>
          <a:p>
            <a:pPr algn="l"/>
            <a:r>
              <a:rPr sz="1300" b="0">
                <a:solidFill>
                  <a:srgbClr val="202834"/>
                </a:solidFill>
                <a:latin typeface="Segoe UI"/>
              </a:rPr>
              <a:t>cast 0</a:t>
            </a:r>
          </a:p>
          <a:p>
            <a:pPr algn="l"/>
            <a:r>
              <a:rPr sz="1300" b="0">
                <a:solidFill>
                  <a:srgbClr val="202834"/>
                </a:solidFill>
                <a:latin typeface="Segoe UI"/>
              </a:rPr>
              <a:t>crew 0</a:t>
            </a:r>
          </a:p>
          <a:p>
            <a:pPr algn="l"/>
            <a:r>
              <a:rPr sz="1300" b="0">
                <a:solidFill>
                  <a:srgbClr val="202834"/>
                </a:solidFill>
                <a:latin typeface="Segoe UI"/>
              </a:rPr>
              <a:t>dtype: int64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64: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8) Drop rows with missing values</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65: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232</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rows_before = movies_df.shape[0]</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66: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233</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rows_before</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Is cell me custom logic/calculation execute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4803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67: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234</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movies_df = movies_df.dropna().reset_index(drop=True)</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Missing ya duplicate rows cleanup ki ja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68: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237</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rows_after = movies_df.shape[0]</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69: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238</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rows_after</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Is cell me custom logic/calculation execute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4800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70: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239</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print("Rows before dropna:", rows_before)</a:t>
            </a:r>
          </a:p>
          <a:p>
            <a:pPr algn="l"/>
            <a:r>
              <a:rPr sz="1100" b="0">
                <a:solidFill>
                  <a:srgbClr val="202834"/>
                </a:solidFill>
                <a:latin typeface="Consolas"/>
              </a:rPr>
              <a:t>print("Rows after dropna:", rows_after)</a:t>
            </a:r>
          </a:p>
          <a:p>
            <a:pPr algn="l"/>
            <a:r>
              <a:rPr sz="1100" b="0">
                <a:solidFill>
                  <a:srgbClr val="202834"/>
                </a:solidFill>
                <a:latin typeface="Consolas"/>
              </a:rPr>
              <a:t>print("Rows dropped:", rows_before - rows_after)</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Missing ya duplicate rows cleanup ki ja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Rows before dropna: 4803</a:t>
            </a:r>
          </a:p>
          <a:p>
            <a:pPr algn="l"/>
            <a:r>
              <a:rPr sz="1300" b="0">
                <a:solidFill>
                  <a:srgbClr val="202834"/>
                </a:solidFill>
                <a:latin typeface="Segoe UI"/>
              </a:rPr>
              <a:t>Rows after dropna: 4800</a:t>
            </a:r>
          </a:p>
          <a:p>
            <a:pPr algn="l"/>
            <a:r>
              <a:rPr sz="1300" b="0">
                <a:solidFill>
                  <a:srgbClr val="202834"/>
                </a:solidFill>
                <a:latin typeface="Segoe UI"/>
              </a:rPr>
              <a:t>Rows dropped: 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71: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Why dropna() Instead of fillna()?</a:t>
            </a:r>
          </a:p>
          <a:p>
            <a:pPr algn="l"/>
            <a:r>
              <a:rPr sz="1300" b="0">
                <a:solidFill>
                  <a:srgbClr val="202834"/>
                </a:solidFill>
                <a:latin typeface="Segoe UI"/>
              </a:rPr>
              <a:t>For recommendation tags, fields like overview, genres, cast, and crew carry core semantic meaning. Filling missing values with placeholders (such as empty strings or defaults) can add noisy or misleading tokens and weaken similarity quality. Dropping incomplete rows preserves cleaner, higher-signal feature text for modeling.</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72: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9) Parse JSON-like columns using ast.literal_eval</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73: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240</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def extract_name_list(text_value, limit=None):</a:t>
            </a:r>
          </a:p>
          <a:p>
            <a:pPr algn="l"/>
            <a:r>
              <a:rPr sz="1100" b="0">
                <a:solidFill>
                  <a:srgbClr val="202834"/>
                </a:solidFill>
                <a:latin typeface="Consolas"/>
              </a:rPr>
              <a:t>    parsed = ast.literal_eval(text_value)</a:t>
            </a:r>
          </a:p>
          <a:p>
            <a:pPr algn="l"/>
            <a:r>
              <a:rPr sz="1100" b="0">
                <a:solidFill>
                  <a:srgbClr val="202834"/>
                </a:solidFill>
                <a:latin typeface="Consolas"/>
              </a:rPr>
              <a:t>    names = [item["name"] for item in parsed if isinstance(item, dict) and "name" in item]</a:t>
            </a:r>
          </a:p>
          <a:p>
            <a:pPr algn="l"/>
            <a:r>
              <a:rPr sz="1100" b="0">
                <a:solidFill>
                  <a:srgbClr val="202834"/>
                </a:solidFill>
                <a:latin typeface="Consolas"/>
              </a:rPr>
              <a:t>    if limit is not None:</a:t>
            </a:r>
          </a:p>
          <a:p>
            <a:pPr algn="l"/>
            <a:r>
              <a:rPr sz="1100" b="0">
                <a:solidFill>
                  <a:srgbClr val="202834"/>
                </a:solidFill>
                <a:latin typeface="Consolas"/>
              </a:rPr>
              <a:t>        names = names[:limit]</a:t>
            </a:r>
          </a:p>
          <a:p>
            <a:pPr algn="l"/>
            <a:r>
              <a:rPr sz="1100" b="0">
                <a:solidFill>
                  <a:srgbClr val="202834"/>
                </a:solidFill>
                <a:latin typeface="Consolas"/>
              </a:rPr>
              <a:t>    return names</a:t>
            </a:r>
          </a:p>
          <a:p>
            <a:pPr algn="l"/>
            <a:r>
              <a:rPr sz="1100" b="0">
                <a:solidFill>
                  <a:srgbClr val="202834"/>
                </a:solidFill>
                <a:latin typeface="Consolas"/>
              </a:rPr>
              <a:t/>
            </a:r>
          </a:p>
          <a:p>
            <a:pPr algn="l"/>
            <a:r>
              <a:rPr sz="1100" b="0">
                <a:solidFill>
                  <a:srgbClr val="202834"/>
                </a:solidFill>
                <a:latin typeface="Consolas"/>
              </a:rPr>
              <a:t/>
            </a:r>
          </a:p>
          <a:p>
            <a:pPr algn="l"/>
            <a:r>
              <a:rPr sz="1100" b="0">
                <a:solidFill>
                  <a:srgbClr val="202834"/>
                </a:solidFill>
                <a:latin typeface="Consolas"/>
              </a:rPr>
              <a:t>def extract_director(text_value):</a:t>
            </a:r>
          </a:p>
          <a:p>
            <a:pPr algn="l"/>
            <a:r>
              <a:rPr sz="1100" b="0">
                <a:solidFill>
                  <a:srgbClr val="202834"/>
                </a:solidFill>
                <a:latin typeface="Consolas"/>
              </a:rPr>
              <a:t>    parsed = ast.literal_eval(text_value)</a:t>
            </a:r>
          </a:p>
          <a:p>
            <a:pPr algn="l"/>
            <a:r>
              <a:rPr sz="1100" b="0">
                <a:solidFill>
                  <a:srgbClr val="202834"/>
                </a:solidFill>
                <a:latin typeface="Consolas"/>
              </a:rPr>
              <a:t>    directors = [</a:t>
            </a:r>
          </a:p>
          <a:p>
            <a:pPr algn="l"/>
            <a:r>
              <a:rPr sz="1100" b="0">
                <a:solidFill>
                  <a:srgbClr val="202834"/>
                </a:solidFill>
                <a:latin typeface="Consolas"/>
              </a:rPr>
              <a:t>        item["name"]</a:t>
            </a:r>
          </a:p>
          <a:p>
            <a:pPr algn="l"/>
            <a:r>
              <a:rPr sz="1100" b="0">
                <a:solidFill>
                  <a:srgbClr val="202834"/>
                </a:solidFill>
                <a:latin typeface="Consolas"/>
              </a:rPr>
              <a:t>        for item in parsed</a:t>
            </a:r>
          </a:p>
          <a:p>
            <a:pPr algn="l"/>
            <a:r>
              <a:rPr sz="1100" b="0">
                <a:solidFill>
                  <a:srgbClr val="202834"/>
                </a:solidFill>
                <a:latin typeface="Consolas"/>
              </a:rPr>
              <a:t>        if isinstance(item, dict) and item.get("job") == "Director" and "name" in item</a:t>
            </a:r>
          </a:p>
          <a:p>
            <a:pPr algn="l"/>
            <a:r>
              <a:rPr sz="1100" b="0">
                <a:solidFill>
                  <a:srgbClr val="202834"/>
                </a:solidFill>
                <a:latin typeface="Consolas"/>
              </a:rPr>
              <a:t>    ]</a:t>
            </a:r>
          </a:p>
          <a:p>
            <a:pPr algn="l"/>
            <a:r>
              <a:rPr sz="1100" b="0">
                <a:solidFill>
                  <a:srgbClr val="202834"/>
                </a:solidFill>
                <a:latin typeface="Consolas"/>
              </a:rPr>
              <a:t>    return directors[:1]</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Text-based JSON/list values parse kiye ja rahe hain.</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74: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241</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movies_df["genres"] = movies_df["genres"].apply(extract_name_list)</a:t>
            </a:r>
          </a:p>
          <a:p>
            <a:pPr algn="l"/>
            <a:r>
              <a:rPr sz="1100" b="0">
                <a:solidFill>
                  <a:srgbClr val="202834"/>
                </a:solidFill>
                <a:latin typeface="Consolas"/>
              </a:rPr>
              <a:t>movies_df["keywords"] = movies_df["keywords"].apply(extract_name_list)</a:t>
            </a:r>
          </a:p>
          <a:p>
            <a:pPr algn="l"/>
            <a:r>
              <a:rPr sz="1100" b="0">
                <a:solidFill>
                  <a:srgbClr val="202834"/>
                </a:solidFill>
                <a:latin typeface="Consolas"/>
              </a:rPr>
              <a:t>movies_df["cast"] = movies_df["cast"].apply(lambda x: extract_name_list(x, limit=3))</a:t>
            </a:r>
          </a:p>
          <a:p>
            <a:pPr algn="l"/>
            <a:r>
              <a:rPr sz="1100" b="0">
                <a:solidFill>
                  <a:srgbClr val="202834"/>
                </a:solidFill>
                <a:latin typeface="Consolas"/>
              </a:rPr>
              <a:t>movies_df["crew"] = movies_df["crew"].apply(extract_director)</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Row-wise transformation/feature engineering run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75: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242</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print("Parsed sample:")</a:t>
            </a:r>
          </a:p>
          <a:p>
            <a:pPr algn="l"/>
            <a:r>
              <a:rPr sz="1100" b="0">
                <a:solidFill>
                  <a:srgbClr val="202834"/>
                </a:solidFill>
                <a:latin typeface="Consolas"/>
              </a:rPr>
              <a:t>print(movies_df[["title", "genres", "keywords", "cast", "crew"]].head(2))</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Parsed sample:</a:t>
            </a:r>
          </a:p>
          <a:p>
            <a:pPr algn="l"/>
            <a:r>
              <a:rPr sz="1300" b="0">
                <a:solidFill>
                  <a:srgbClr val="202834"/>
                </a:solidFill>
                <a:latin typeface="Segoe UI"/>
              </a:rPr>
              <a:t>title \</a:t>
            </a:r>
          </a:p>
          <a:p>
            <a:pPr algn="l"/>
            <a:r>
              <a:rPr sz="1300" b="0">
                <a:solidFill>
                  <a:srgbClr val="202834"/>
                </a:solidFill>
                <a:latin typeface="Segoe UI"/>
              </a:rPr>
              <a:t>0 Avatar</a:t>
            </a:r>
          </a:p>
          <a:p>
            <a:pPr algn="l"/>
            <a:r>
              <a:rPr sz="1300" b="0">
                <a:solidFill>
                  <a:srgbClr val="202834"/>
                </a:solidFill>
                <a:latin typeface="Segoe UI"/>
              </a:rPr>
              <a:t>1 Pirates of the Caribbean: At World's End</a:t>
            </a:r>
          </a:p>
          <a:p>
            <a:pPr algn="l"/>
            <a:r>
              <a:rPr sz="1300" b="0">
                <a:solidFill>
                  <a:srgbClr val="202834"/>
                </a:solidFill>
                <a:latin typeface="Segoe UI"/>
              </a:rPr>
              <a:t>genres \</a:t>
            </a:r>
          </a:p>
          <a:p>
            <a:pPr algn="l"/>
            <a:r>
              <a:rPr sz="1300" b="0">
                <a:solidFill>
                  <a:srgbClr val="202834"/>
                </a:solidFill>
                <a:latin typeface="Segoe UI"/>
              </a:rPr>
              <a:t>0 [Action, Adventure, Fantasy, Science Fiction]</a:t>
            </a:r>
          </a:p>
          <a:p>
            <a:pPr algn="l"/>
            <a:r>
              <a:rPr sz="1300" b="0">
                <a:solidFill>
                  <a:srgbClr val="202834"/>
                </a:solidFill>
                <a:latin typeface="Segoe UI"/>
              </a:rPr>
              <a:t>1 [Adventure, Fantasy, Action]</a:t>
            </a:r>
          </a:p>
          <a:p>
            <a:pPr algn="l"/>
            <a:r>
              <a:rPr sz="1300" b="0">
                <a:solidFill>
                  <a:srgbClr val="202834"/>
                </a:solidFill>
                <a:latin typeface="Segoe UI"/>
              </a:rPr>
              <a:t>keywords \</a:t>
            </a:r>
          </a:p>
          <a:p>
            <a:pPr algn="l"/>
            <a:r>
              <a:rPr sz="1300" b="0">
                <a:solidFill>
                  <a:srgbClr val="202834"/>
                </a:solidFill>
                <a:latin typeface="Segoe UI"/>
              </a:rPr>
              <a:t>0 [culture clash, future, space war, space colony, society, space travel, futuristic, romance, space, alien, tribe, al...</a:t>
            </a:r>
          </a:p>
          <a:p>
            <a:pPr algn="l"/>
            <a:r>
              <a:rPr sz="1300" b="0">
                <a:solidFill>
                  <a:srgbClr val="202834"/>
                </a:solidFill>
                <a:latin typeface="Segoe UI"/>
              </a:rPr>
              <a:t>1 [ocean, drug abuse, exotic island, east india trading company, love of one's life, traitor, shipwreck, strong woman,...</a:t>
            </a:r>
          </a:p>
          <a:p>
            <a:pPr algn="l"/>
            <a:r>
              <a:rPr sz="1300" b="0">
                <a:solidFill>
                  <a:srgbClr val="202834"/>
                </a:solidFill>
                <a:latin typeface="Segoe UI"/>
              </a:rPr>
              <a:t>cast crew</a:t>
            </a:r>
          </a:p>
          <a:p>
            <a:pPr algn="l"/>
            <a:r>
              <a:rPr sz="1300" b="0">
                <a:solidFill>
                  <a:srgbClr val="202834"/>
                </a:solidFill>
                <a:latin typeface="Segoe UI"/>
              </a:rPr>
              <a:t>0 [Sam Worthington, Zoe Saldana, Sigourney Weaver] [James Cameron]</a:t>
            </a:r>
          </a:p>
          <a:p>
            <a:pPr algn="l"/>
            <a:r>
              <a:rPr sz="1300" b="0">
                <a:solidFill>
                  <a:srgbClr val="202834"/>
                </a:solidFill>
                <a:latin typeface="Segoe UI"/>
              </a:rPr>
              <a:t>1 [Johnny Depp, Orlando Bloom, Keira Knightley] [Gore Verbinski]</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76: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244</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 10) Process overview text and normalize names</a:t>
            </a:r>
          </a:p>
          <a:p>
            <a:pPr algn="l"/>
            <a:r>
              <a:rPr sz="1100" b="0">
                <a:solidFill>
                  <a:srgbClr val="202834"/>
                </a:solidFill>
                <a:latin typeface="Consolas"/>
              </a:rPr>
              <a:t>movies_df["overview"] = movies_df["overview"].apply(lambda x: x.split())</a:t>
            </a:r>
          </a:p>
          <a:p>
            <a:pPr algn="l"/>
            <a:r>
              <a:rPr sz="1100" b="0">
                <a:solidFill>
                  <a:srgbClr val="202834"/>
                </a:solidFill>
                <a:latin typeface="Consolas"/>
              </a:rPr>
              <a:t/>
            </a:r>
          </a:p>
          <a:p>
            <a:pPr algn="l"/>
            <a:r>
              <a:rPr sz="1100" b="0">
                <a:solidFill>
                  <a:srgbClr val="202834"/>
                </a:solidFill>
                <a:latin typeface="Consolas"/>
              </a:rPr>
              <a:t/>
            </a:r>
          </a:p>
          <a:p>
            <a:pPr algn="l"/>
            <a:r>
              <a:rPr sz="1100" b="0">
                <a:solidFill>
                  <a:srgbClr val="202834"/>
                </a:solidFill>
                <a:latin typeface="Consolas"/>
              </a:rPr>
              <a:t>def remove_inner_spaces(token_list):</a:t>
            </a:r>
          </a:p>
          <a:p>
            <a:pPr algn="l"/>
            <a:r>
              <a:rPr sz="1100" b="0">
                <a:solidFill>
                  <a:srgbClr val="202834"/>
                </a:solidFill>
                <a:latin typeface="Consolas"/>
              </a:rPr>
              <a:t>    return [token.replace(" ", "") for token in token_list]</a:t>
            </a:r>
          </a:p>
          <a:p>
            <a:pPr algn="l"/>
            <a:r>
              <a:rPr sz="1100" b="0">
                <a:solidFill>
                  <a:srgbClr val="202834"/>
                </a:solidFill>
                <a:latin typeface="Consolas"/>
              </a:rPr>
              <a:t/>
            </a:r>
          </a:p>
          <a:p>
            <a:pPr algn="l"/>
            <a:r>
              <a:rPr sz="1100" b="0">
                <a:solidFill>
                  <a:srgbClr val="202834"/>
                </a:solidFill>
                <a:latin typeface="Consolas"/>
              </a:rPr>
              <a:t>for feature_col in ["genres", "keywords", "cast", "crew"]:</a:t>
            </a:r>
          </a:p>
          <a:p>
            <a:pPr algn="l"/>
            <a:r>
              <a:rPr sz="1100" b="0">
                <a:solidFill>
                  <a:srgbClr val="202834"/>
                </a:solidFill>
                <a:latin typeface="Consolas"/>
              </a:rPr>
              <a:t>    movies_df[feature_col] = movies_df[feature_col].apply(remove_inner_spaces)</a:t>
            </a:r>
          </a:p>
          <a:p>
            <a:pPr algn="l"/>
            <a:r>
              <a:rPr sz="1100" b="0">
                <a:solidFill>
                  <a:srgbClr val="202834"/>
                </a:solidFill>
                <a:latin typeface="Consolas"/>
              </a:rPr>
              <a:t/>
            </a:r>
          </a:p>
          <a:p>
            <a:pPr algn="l"/>
            <a:r>
              <a:rPr sz="1100" b="0">
                <a:solidFill>
                  <a:srgbClr val="202834"/>
                </a:solidFill>
                <a:latin typeface="Consolas"/>
              </a:rPr>
              <a:t>print("Processed text sample:")</a:t>
            </a:r>
          </a:p>
          <a:p>
            <a:pPr algn="l"/>
            <a:r>
              <a:rPr sz="1100" b="0">
                <a:solidFill>
                  <a:srgbClr val="202834"/>
                </a:solidFill>
                <a:latin typeface="Consolas"/>
              </a:rPr>
              <a:t>print(movies_df[["title", "overview", "cast", "crew"]].head(1))</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a:p>
            <a:pPr algn="l"/>
            <a:r>
              <a:rPr sz="1300" b="0">
                <a:solidFill>
                  <a:srgbClr val="202834"/>
                </a:solidFill>
                <a:latin typeface="Segoe UI"/>
              </a:rPr>
              <a:t>- Text preprocessing aur feature normalization ho raha hai.</a:t>
            </a:r>
          </a:p>
          <a:p>
            <a:pPr algn="l"/>
            <a:r>
              <a:rPr sz="1300" b="0">
                <a:solidFill>
                  <a:srgbClr val="202834"/>
                </a:solidFill>
                <a:latin typeface="Segoe UI"/>
              </a:rPr>
              <a:t>- Row-wise transformation/feature engineering run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Processed text sample:</a:t>
            </a:r>
          </a:p>
          <a:p>
            <a:pPr algn="l"/>
            <a:r>
              <a:rPr sz="1300" b="0">
                <a:solidFill>
                  <a:srgbClr val="202834"/>
                </a:solidFill>
                <a:latin typeface="Segoe UI"/>
              </a:rPr>
              <a:t>title \</a:t>
            </a:r>
          </a:p>
          <a:p>
            <a:pPr algn="l"/>
            <a:r>
              <a:rPr sz="1300" b="0">
                <a:solidFill>
                  <a:srgbClr val="202834"/>
                </a:solidFill>
                <a:latin typeface="Segoe UI"/>
              </a:rPr>
              <a:t>0 Avatar</a:t>
            </a:r>
          </a:p>
          <a:p>
            <a:pPr algn="l"/>
            <a:r>
              <a:rPr sz="1300" b="0">
                <a:solidFill>
                  <a:srgbClr val="202834"/>
                </a:solidFill>
                <a:latin typeface="Segoe UI"/>
              </a:rPr>
              <a:t>overview \</a:t>
            </a:r>
          </a:p>
          <a:p>
            <a:pPr algn="l"/>
            <a:r>
              <a:rPr sz="1300" b="0">
                <a:solidFill>
                  <a:srgbClr val="202834"/>
                </a:solidFill>
                <a:latin typeface="Segoe UI"/>
              </a:rPr>
              <a:t>0 [In, the, 22nd, century,, a, paraplegic, Marine, is, dispatched, to, the, moon, Pandora, on, a, unique, mission,, bu...</a:t>
            </a:r>
          </a:p>
          <a:p>
            <a:pPr algn="l"/>
            <a:r>
              <a:rPr sz="1300" b="0">
                <a:solidFill>
                  <a:srgbClr val="202834"/>
                </a:solidFill>
                <a:latin typeface="Segoe UI"/>
              </a:rPr>
              <a:t>cast crew</a:t>
            </a:r>
          </a:p>
          <a:p>
            <a:pPr algn="l"/>
            <a:r>
              <a:rPr sz="1300" b="0">
                <a:solidFill>
                  <a:srgbClr val="202834"/>
                </a:solidFill>
                <a:latin typeface="Segoe UI"/>
              </a:rPr>
              <a:t>0 [SamWorthington, ZoeSaldana, SigourneyWeaver] [JamesCameron]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77: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Create Feature-Rich tags Column</a:t>
            </a:r>
          </a:p>
          <a:p>
            <a:pPr algn="l"/>
            <a:r>
              <a:rPr sz="1300" b="0">
                <a:solidFill>
                  <a:srgbClr val="202834"/>
                </a:solidFill>
                <a:latin typeface="Segoe UI"/>
              </a:rPr>
              <a:t>Combine text features (overview, genres, keywords, cast, crew) into one modeling column.</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78: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11) Create tags by combining all selected feature lists</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79: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245</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movies_df["tags"] = (</a:t>
            </a:r>
          </a:p>
          <a:p>
            <a:pPr algn="l"/>
            <a:r>
              <a:rPr sz="1100" b="0">
                <a:solidFill>
                  <a:srgbClr val="202834"/>
                </a:solidFill>
                <a:latin typeface="Consolas"/>
              </a:rPr>
              <a:t>    movies_df["overview"]</a:t>
            </a:r>
          </a:p>
          <a:p>
            <a:pPr algn="l"/>
            <a:r>
              <a:rPr sz="1100" b="0">
                <a:solidFill>
                  <a:srgbClr val="202834"/>
                </a:solidFill>
                <a:latin typeface="Consolas"/>
              </a:rPr>
              <a:t>    + movies_df["genres"]</a:t>
            </a:r>
          </a:p>
          <a:p>
            <a:pPr algn="l"/>
            <a:r>
              <a:rPr sz="1100" b="0">
                <a:solidFill>
                  <a:srgbClr val="202834"/>
                </a:solidFill>
                <a:latin typeface="Consolas"/>
              </a:rPr>
              <a:t>    + movies_df["keywords"]</a:t>
            </a:r>
          </a:p>
          <a:p>
            <a:pPr algn="l"/>
            <a:r>
              <a:rPr sz="1100" b="0">
                <a:solidFill>
                  <a:srgbClr val="202834"/>
                </a:solidFill>
                <a:latin typeface="Consolas"/>
              </a:rPr>
              <a:t>    + movies_df["cast"]</a:t>
            </a:r>
          </a:p>
          <a:p>
            <a:pPr algn="l"/>
            <a:r>
              <a:rPr sz="1100" b="0">
                <a:solidFill>
                  <a:srgbClr val="202834"/>
                </a:solidFill>
                <a:latin typeface="Consolas"/>
              </a:rPr>
              <a:t>    + movies_df["crew"]</a:t>
            </a:r>
          </a:p>
          <a:p>
            <a:pPr algn="l"/>
            <a:r>
              <a:rPr sz="1100" b="0">
                <a:solidFill>
                  <a:srgbClr val="202834"/>
                </a:solidFill>
                <a:latin typeface="Consolas"/>
              </a:rPr>
              <a:t>)</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Is cell me custom logic/calculation execute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80: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246</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print("Tags list sample:")</a:t>
            </a:r>
          </a:p>
          <a:p>
            <a:pPr algn="l"/>
            <a:r>
              <a:rPr sz="1100" b="0">
                <a:solidFill>
                  <a:srgbClr val="202834"/>
                </a:solidFill>
                <a:latin typeface="Consolas"/>
              </a:rPr>
              <a:t>print(movies_df[["title", "tags"]].head(2))</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Tags list sample:</a:t>
            </a:r>
          </a:p>
          <a:p>
            <a:pPr algn="l"/>
            <a:r>
              <a:rPr sz="1300" b="0">
                <a:solidFill>
                  <a:srgbClr val="202834"/>
                </a:solidFill>
                <a:latin typeface="Segoe UI"/>
              </a:rPr>
              <a:t>title \</a:t>
            </a:r>
          </a:p>
          <a:p>
            <a:pPr algn="l"/>
            <a:r>
              <a:rPr sz="1300" b="0">
                <a:solidFill>
                  <a:srgbClr val="202834"/>
                </a:solidFill>
                <a:latin typeface="Segoe UI"/>
              </a:rPr>
              <a:t>0 Avatar</a:t>
            </a:r>
          </a:p>
          <a:p>
            <a:pPr algn="l"/>
            <a:r>
              <a:rPr sz="1300" b="0">
                <a:solidFill>
                  <a:srgbClr val="202834"/>
                </a:solidFill>
                <a:latin typeface="Segoe UI"/>
              </a:rPr>
              <a:t>1 Pirates of the Caribbean: At World's End</a:t>
            </a:r>
          </a:p>
          <a:p>
            <a:pPr algn="l"/>
            <a:r>
              <a:rPr sz="1300" b="0">
                <a:solidFill>
                  <a:srgbClr val="202834"/>
                </a:solidFill>
                <a:latin typeface="Segoe UI"/>
              </a:rPr>
              <a:t>tags</a:t>
            </a:r>
          </a:p>
          <a:p>
            <a:pPr algn="l"/>
            <a:r>
              <a:rPr sz="1300" b="0">
                <a:solidFill>
                  <a:srgbClr val="202834"/>
                </a:solidFill>
                <a:latin typeface="Segoe UI"/>
              </a:rPr>
              <a:t>0 [In, the, 22nd, century,, a, paraplegic, Marine, is, dispatched, to, the, moon, Pandora, on, a, unique, mission,, bu...</a:t>
            </a:r>
          </a:p>
          <a:p>
            <a:pPr algn="l"/>
            <a:r>
              <a:rPr sz="1300" b="0">
                <a:solidFill>
                  <a:srgbClr val="202834"/>
                </a:solidFill>
                <a:latin typeface="Segoe UI"/>
              </a:rPr>
              <a:t>1 [Captain, Barbossa,, long, believed, to, be, dead,, has, come, back, to, life, and, is, headed, to, the, edge, of, 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81: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12) Final cleaning: convert tags list to lowercase text</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82: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247</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movies_df["tags"] = movies_df["tags"].apply(lambda values: " ".join(values).lower())</a:t>
            </a:r>
          </a:p>
          <a:p>
            <a:pPr algn="l"/>
            <a:r>
              <a:rPr sz="1100" b="0">
                <a:solidFill>
                  <a:srgbClr val="202834"/>
                </a:solidFill>
                <a:latin typeface="Consolas"/>
              </a:rPr>
              <a:t/>
            </a:r>
          </a:p>
          <a:p>
            <a:pPr algn="l"/>
            <a:r>
              <a:rPr sz="1100" b="0">
                <a:solidFill>
                  <a:srgbClr val="202834"/>
                </a:solidFill>
                <a:latin typeface="Consolas"/>
              </a:rPr>
              <a:t>final_movies_df = movies_df[["movie_id", "title", "tags"]].copy()</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Multiple datasets combine/merge ho rahe hain.</a:t>
            </a:r>
          </a:p>
          <a:p>
            <a:pPr algn="l"/>
            <a:r>
              <a:rPr sz="1300" b="0">
                <a:solidFill>
                  <a:srgbClr val="202834"/>
                </a:solidFill>
                <a:latin typeface="Segoe UI"/>
              </a:rPr>
              <a:t>- Text preprocessing aur feature normalization ho raha hai.</a:t>
            </a:r>
          </a:p>
          <a:p>
            <a:pPr algn="l"/>
            <a:r>
              <a:rPr sz="1300" b="0">
                <a:solidFill>
                  <a:srgbClr val="202834"/>
                </a:solidFill>
                <a:latin typeface="Segoe UI"/>
              </a:rPr>
              <a:t>- Row-wise transformation/feature engineering run ho rahi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83: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248</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print("Final dataset shape:", final_movies_df.shape)</a:t>
            </a:r>
          </a:p>
          <a:p>
            <a:pPr algn="l"/>
            <a:r>
              <a:rPr sz="1100" b="0">
                <a:solidFill>
                  <a:srgbClr val="202834"/>
                </a:solidFill>
                <a:latin typeface="Consolas"/>
              </a:rPr>
              <a:t>print(final_movies_df.head(5))</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Final dataset shape: (4800, 3)</a:t>
            </a:r>
          </a:p>
          <a:p>
            <a:pPr algn="l"/>
            <a:r>
              <a:rPr sz="1300" b="0">
                <a:solidFill>
                  <a:srgbClr val="202834"/>
                </a:solidFill>
                <a:latin typeface="Segoe UI"/>
              </a:rPr>
              <a:t>movie_id title \</a:t>
            </a:r>
          </a:p>
          <a:p>
            <a:pPr algn="l"/>
            <a:r>
              <a:rPr sz="1300" b="0">
                <a:solidFill>
                  <a:srgbClr val="202834"/>
                </a:solidFill>
                <a:latin typeface="Segoe UI"/>
              </a:rPr>
              <a:t>0 19995 Avatar</a:t>
            </a:r>
          </a:p>
          <a:p>
            <a:pPr algn="l"/>
            <a:r>
              <a:rPr sz="1300" b="0">
                <a:solidFill>
                  <a:srgbClr val="202834"/>
                </a:solidFill>
                <a:latin typeface="Segoe UI"/>
              </a:rPr>
              <a:t>1 285 Pirates of the Caribbean: At World's End</a:t>
            </a:r>
          </a:p>
          <a:p>
            <a:pPr algn="l"/>
            <a:r>
              <a:rPr sz="1300" b="0">
                <a:solidFill>
                  <a:srgbClr val="202834"/>
                </a:solidFill>
                <a:latin typeface="Segoe UI"/>
              </a:rPr>
              <a:t>2 206647 Spectre</a:t>
            </a:r>
          </a:p>
          <a:p>
            <a:pPr algn="l"/>
            <a:r>
              <a:rPr sz="1300" b="0">
                <a:solidFill>
                  <a:srgbClr val="202834"/>
                </a:solidFill>
                <a:latin typeface="Segoe UI"/>
              </a:rPr>
              <a:t>3 49026 The Dark Knight Rises</a:t>
            </a:r>
          </a:p>
          <a:p>
            <a:pPr algn="l"/>
            <a:r>
              <a:rPr sz="1300" b="0">
                <a:solidFill>
                  <a:srgbClr val="202834"/>
                </a:solidFill>
                <a:latin typeface="Segoe UI"/>
              </a:rPr>
              <a:t>4 49529 John Carter</a:t>
            </a:r>
          </a:p>
          <a:p>
            <a:pPr algn="l"/>
            <a:r>
              <a:rPr sz="1300" b="0">
                <a:solidFill>
                  <a:srgbClr val="202834"/>
                </a:solidFill>
                <a:latin typeface="Segoe UI"/>
              </a:rPr>
              <a:t>tags</a:t>
            </a:r>
          </a:p>
          <a:p>
            <a:pPr algn="l"/>
            <a:r>
              <a:rPr sz="1300" b="0">
                <a:solidFill>
                  <a:srgbClr val="202834"/>
                </a:solidFill>
                <a:latin typeface="Segoe UI"/>
              </a:rPr>
              <a:t>0 in the 22nd century, a paraplegic marine is dispatched to the moon pandora on a unique mission, but becomes torn bet...</a:t>
            </a:r>
          </a:p>
          <a:p>
            <a:pPr algn="l"/>
            <a:r>
              <a:rPr sz="1300" b="0">
                <a:solidFill>
                  <a:srgbClr val="202834"/>
                </a:solidFill>
                <a:latin typeface="Segoe UI"/>
              </a:rPr>
              <a:t>1 captain barbossa, long believed to be dead, has come back to life and is headed to the edge of the earth with will t...</a:t>
            </a:r>
          </a:p>
          <a:p>
            <a:pPr algn="l"/>
            <a:r>
              <a:rPr sz="1300" b="0">
                <a:solidFill>
                  <a:srgbClr val="202834"/>
                </a:solidFill>
                <a:latin typeface="Segoe UI"/>
              </a:rPr>
              <a:t>2 a cryptic message from bond’s past sends him on a trail to uncover a sinister organization. while m battles politica...</a:t>
            </a:r>
          </a:p>
          <a:p>
            <a:pPr algn="l"/>
            <a:r>
              <a:rPr sz="1300" b="0">
                <a:solidFill>
                  <a:srgbClr val="202834"/>
                </a:solidFill>
                <a:latin typeface="Segoe UI"/>
              </a:rPr>
              <a:t>3 following the death of district attorney harvey dent, batman assumes responsibility for dent's crimes to protect the...</a:t>
            </a:r>
          </a:p>
          <a:p>
            <a:pPr algn="l"/>
            <a:r>
              <a:rPr sz="1300" b="0">
                <a:solidFill>
                  <a:srgbClr val="202834"/>
                </a:solidFill>
                <a:latin typeface="Segoe UI"/>
              </a:rPr>
              <a:t>4 john carter is a war-weary, former military captain who's inexplicably transported to the mysterious and exotic plan...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84: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Save Processed Dataset</a:t>
            </a:r>
          </a:p>
          <a:p>
            <a:pPr algn="l"/>
            <a:r>
              <a:rPr sz="1300" b="0">
                <a:solidFill>
                  <a:srgbClr val="202834"/>
                </a:solidFill>
                <a:latin typeface="Segoe UI"/>
              </a:rPr>
              <a:t>Persist the final preprocessing result for vectorization and modeling.</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85: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13) Save final output</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86: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249</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output_path = "../data/processed_movies.csv"</a:t>
            </a:r>
          </a:p>
          <a:p>
            <a:pPr algn="l"/>
            <a:r>
              <a:rPr sz="1100" b="0">
                <a:solidFill>
                  <a:srgbClr val="202834"/>
                </a:solidFill>
                <a:latin typeface="Consolas"/>
              </a:rPr>
              <a:t>final_movies_df.to_csv(output_path, index=False)</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Processed artifact/output file save kiya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No visible output in this cell.</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87: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250</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print(f"Processed dataset saved to: {output_path}")</a:t>
            </a:r>
          </a:p>
          <a:p>
            <a:pPr algn="l"/>
            <a:r>
              <a:rPr sz="1100" b="0">
                <a:solidFill>
                  <a:srgbClr val="202834"/>
                </a:solidFill>
                <a:latin typeface="Consolas"/>
              </a:rPr>
              <a:t>print("Saved file preview:")</a:t>
            </a:r>
          </a:p>
          <a:p>
            <a:pPr algn="l"/>
            <a:r>
              <a:rPr sz="1100" b="0">
                <a:solidFill>
                  <a:srgbClr val="202834"/>
                </a:solidFill>
                <a:latin typeface="Consolas"/>
              </a:rPr>
              <a:t>print(pd.read_csv(output_path).head(3))</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Dataset files load kiye ja rahe hain.</a:t>
            </a:r>
          </a:p>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Processed dataset saved to: ../data/processed_movies.csv</a:t>
            </a:r>
          </a:p>
          <a:p>
            <a:pPr algn="l"/>
            <a:r>
              <a:rPr sz="1300" b="0">
                <a:solidFill>
                  <a:srgbClr val="202834"/>
                </a:solidFill>
                <a:latin typeface="Segoe UI"/>
              </a:rPr>
              <a:t>Saved file preview:</a:t>
            </a:r>
          </a:p>
          <a:p>
            <a:pPr algn="l"/>
            <a:r>
              <a:rPr sz="1300" b="0">
                <a:solidFill>
                  <a:srgbClr val="202834"/>
                </a:solidFill>
                <a:latin typeface="Segoe UI"/>
              </a:rPr>
              <a:t>movie_id title \</a:t>
            </a:r>
          </a:p>
          <a:p>
            <a:pPr algn="l"/>
            <a:r>
              <a:rPr sz="1300" b="0">
                <a:solidFill>
                  <a:srgbClr val="202834"/>
                </a:solidFill>
                <a:latin typeface="Segoe UI"/>
              </a:rPr>
              <a:t>0 19995 Avatar</a:t>
            </a:r>
          </a:p>
          <a:p>
            <a:pPr algn="l"/>
            <a:r>
              <a:rPr sz="1300" b="0">
                <a:solidFill>
                  <a:srgbClr val="202834"/>
                </a:solidFill>
                <a:latin typeface="Segoe UI"/>
              </a:rPr>
              <a:t>1 285 Pirates of the Caribbean: At World's End</a:t>
            </a:r>
          </a:p>
          <a:p>
            <a:pPr algn="l"/>
            <a:r>
              <a:rPr sz="1300" b="0">
                <a:solidFill>
                  <a:srgbClr val="202834"/>
                </a:solidFill>
                <a:latin typeface="Segoe UI"/>
              </a:rPr>
              <a:t>2 206647 Spectre</a:t>
            </a:r>
          </a:p>
          <a:p>
            <a:pPr algn="l"/>
            <a:r>
              <a:rPr sz="1300" b="0">
                <a:solidFill>
                  <a:srgbClr val="202834"/>
                </a:solidFill>
                <a:latin typeface="Segoe UI"/>
              </a:rPr>
              <a:t>tags</a:t>
            </a:r>
          </a:p>
          <a:p>
            <a:pPr algn="l"/>
            <a:r>
              <a:rPr sz="1300" b="0">
                <a:solidFill>
                  <a:srgbClr val="202834"/>
                </a:solidFill>
                <a:latin typeface="Segoe UI"/>
              </a:rPr>
              <a:t>0 in the 22nd century, a paraplegic marine is dispatched to the moon pandora on a unique mission, but becomes torn bet...</a:t>
            </a:r>
          </a:p>
          <a:p>
            <a:pPr algn="l"/>
            <a:r>
              <a:rPr sz="1300" b="0">
                <a:solidFill>
                  <a:srgbClr val="202834"/>
                </a:solidFill>
                <a:latin typeface="Segoe UI"/>
              </a:rPr>
              <a:t>1 captain barbossa, long believed to be dead, has come back to life and is headed to the edge of the earth with will t...</a:t>
            </a:r>
          </a:p>
          <a:p>
            <a:pPr algn="l"/>
            <a:r>
              <a:rPr sz="1300" b="0">
                <a:solidFill>
                  <a:srgbClr val="202834"/>
                </a:solidFill>
                <a:latin typeface="Segoe UI"/>
              </a:rPr>
              <a:t>2 a cryptic message from bond’s past sends him on a trail to uncover a sinister organization. while m battles politica...</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88: Markdown</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N/A</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Markdown Content</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300" b="0">
                <a:solidFill>
                  <a:srgbClr val="202834"/>
                </a:solidFill>
                <a:latin typeface="Segoe UI"/>
              </a:rPr>
              <a:t>14) Final sanity checks</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Section heading / narrative explanation di gayi hai.</a:t>
            </a:r>
          </a:p>
          <a:p>
            <a:pPr algn="l"/>
            <a:r>
              <a:rPr sz="1300" b="0">
                <a:solidFill>
                  <a:srgbClr val="202834"/>
                </a:solidFill>
                <a:latin typeface="Segoe UI"/>
              </a:rPr>
              <a:t>- Yeh agle code cells ka context set karta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Markdown cell me executable output nahi hota.</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021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8686800" cy="365760"/>
          </a:xfrm>
          <a:prstGeom prst="rect">
            <a:avLst/>
          </a:prstGeom>
          <a:noFill/>
        </p:spPr>
        <p:txBody>
          <a:bodyPr wrap="none">
            <a:spAutoFit/>
          </a:bodyPr>
          <a:lstStyle/>
          <a:p>
            <a:pPr algn="l"/>
            <a:r>
              <a:rPr sz="2400" b="1">
                <a:solidFill>
                  <a:srgbClr val="FFFFFF"/>
                </a:solidFill>
                <a:latin typeface="Segoe UI Semibold"/>
              </a:rPr>
              <a:t>Cell 89: Code</a:t>
            </a:r>
          </a:p>
        </p:txBody>
      </p:sp>
      <p:sp>
        <p:nvSpPr>
          <p:cNvPr id="4" name="TextBox 3"/>
          <p:cNvSpPr txBox="1"/>
          <p:nvPr/>
        </p:nvSpPr>
        <p:spPr>
          <a:xfrm>
            <a:off x="411480" y="512064"/>
            <a:ext cx="11155680" cy="228600"/>
          </a:xfrm>
          <a:prstGeom prst="rect">
            <a:avLst/>
          </a:prstGeom>
          <a:noFill/>
        </p:spPr>
        <p:txBody>
          <a:bodyPr wrap="none">
            <a:spAutoFit/>
          </a:bodyPr>
          <a:lstStyle/>
          <a:p>
            <a:pPr algn="l"/>
            <a:r>
              <a:rPr sz="1200" b="0">
                <a:solidFill>
                  <a:srgbClr val="C6D6F6"/>
                </a:solidFill>
                <a:latin typeface="Segoe UI"/>
              </a:rPr>
              <a:t>Execution count: 251</a:t>
            </a:r>
          </a:p>
        </p:txBody>
      </p:sp>
      <p:sp>
        <p:nvSpPr>
          <p:cNvPr id="5" name="Rounded Rectangle 4"/>
          <p:cNvSpPr/>
          <p:nvPr/>
        </p:nvSpPr>
        <p:spPr>
          <a:xfrm>
            <a:off x="365760" y="1051560"/>
            <a:ext cx="7132320" cy="544068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61288"/>
            <a:ext cx="6766559" cy="274320"/>
          </a:xfrm>
          <a:prstGeom prst="rect">
            <a:avLst/>
          </a:prstGeom>
          <a:noFill/>
        </p:spPr>
        <p:txBody>
          <a:bodyPr wrap="none">
            <a:spAutoFit/>
          </a:bodyPr>
          <a:lstStyle/>
          <a:p>
            <a:pPr algn="l"/>
            <a:r>
              <a:rPr sz="1400" b="1">
                <a:solidFill>
                  <a:srgbClr val="2962FF"/>
                </a:solidFill>
                <a:latin typeface="Segoe UI"/>
              </a:rPr>
              <a:t>Code</a:t>
            </a:r>
          </a:p>
        </p:txBody>
      </p:sp>
      <p:sp>
        <p:nvSpPr>
          <p:cNvPr id="7" name="TextBox 6"/>
          <p:cNvSpPr txBox="1"/>
          <p:nvPr/>
        </p:nvSpPr>
        <p:spPr>
          <a:xfrm>
            <a:off x="548640" y="1508760"/>
            <a:ext cx="6766559" cy="4873752"/>
          </a:xfrm>
          <a:prstGeom prst="rect">
            <a:avLst/>
          </a:prstGeom>
          <a:noFill/>
        </p:spPr>
        <p:txBody>
          <a:bodyPr wrap="square">
            <a:spAutoFit/>
          </a:bodyPr>
          <a:lstStyle/>
          <a:p>
            <a:pPr algn="l"/>
            <a:r>
              <a:rPr sz="1100" b="0">
                <a:solidFill>
                  <a:srgbClr val="202834"/>
                </a:solidFill>
                <a:latin typeface="Consolas"/>
              </a:rPr>
              <a:t>print("Unique movie_id count:", final_movies_df["movie_id"].nunique())</a:t>
            </a:r>
          </a:p>
          <a:p>
            <a:pPr algn="l"/>
            <a:r>
              <a:rPr sz="1100" b="0">
                <a:solidFill>
                  <a:srgbClr val="202834"/>
                </a:solidFill>
                <a:latin typeface="Consolas"/>
              </a:rPr>
              <a:t>print("Total rows:", len(final_movies_df))</a:t>
            </a:r>
          </a:p>
          <a:p>
            <a:pPr algn="l"/>
            <a:r>
              <a:rPr sz="1100" b="0">
                <a:solidFill>
                  <a:srgbClr val="202834"/>
                </a:solidFill>
                <a:latin typeface="Consolas"/>
              </a:rPr>
              <a:t>print("Any missing tags:", final_movies_df["tags"].isnull().any())</a:t>
            </a:r>
          </a:p>
          <a:p>
            <a:pPr algn="l"/>
            <a:r>
              <a:rPr sz="1100" b="0">
                <a:solidFill>
                  <a:srgbClr val="202834"/>
                </a:solidFill>
                <a:latin typeface="Consolas"/>
              </a:rPr>
              <a:t>print("Empty-tag rows:", (final_movies_df["tags"].str.len() == 0).sum())</a:t>
            </a:r>
          </a:p>
        </p:txBody>
      </p:sp>
      <p:sp>
        <p:nvSpPr>
          <p:cNvPr id="8" name="Rounded Rectangle 7"/>
          <p:cNvSpPr/>
          <p:nvPr/>
        </p:nvSpPr>
        <p:spPr>
          <a:xfrm>
            <a:off x="7635240" y="1051560"/>
            <a:ext cx="4160520" cy="251460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19" y="1161288"/>
            <a:ext cx="3794759" cy="274320"/>
          </a:xfrm>
          <a:prstGeom prst="rect">
            <a:avLst/>
          </a:prstGeom>
          <a:noFill/>
        </p:spPr>
        <p:txBody>
          <a:bodyPr wrap="none">
            <a:spAutoFit/>
          </a:bodyPr>
          <a:lstStyle/>
          <a:p>
            <a:pPr algn="l"/>
            <a:r>
              <a:rPr sz="1400" b="1">
                <a:solidFill>
                  <a:srgbClr val="2962FF"/>
                </a:solidFill>
                <a:latin typeface="Segoe UI"/>
              </a:rPr>
              <a:t>Kya ho raha hai</a:t>
            </a:r>
          </a:p>
        </p:txBody>
      </p:sp>
      <p:sp>
        <p:nvSpPr>
          <p:cNvPr id="10" name="TextBox 9"/>
          <p:cNvSpPr txBox="1"/>
          <p:nvPr/>
        </p:nvSpPr>
        <p:spPr>
          <a:xfrm>
            <a:off x="7818119" y="1508760"/>
            <a:ext cx="3794759" cy="1947672"/>
          </a:xfrm>
          <a:prstGeom prst="rect">
            <a:avLst/>
          </a:prstGeom>
          <a:noFill/>
        </p:spPr>
        <p:txBody>
          <a:bodyPr wrap="square">
            <a:spAutoFit/>
          </a:bodyPr>
          <a:lstStyle/>
          <a:p>
            <a:pPr algn="l"/>
            <a:r>
              <a:rPr sz="1300" b="0">
                <a:solidFill>
                  <a:srgbClr val="202834"/>
                </a:solidFill>
                <a:latin typeface="Segoe UI"/>
              </a:rPr>
              <a:t>- Data ka inspection/EDA snapshot nikala ja raha hai.</a:t>
            </a:r>
          </a:p>
        </p:txBody>
      </p:sp>
      <p:sp>
        <p:nvSpPr>
          <p:cNvPr id="11" name="Rounded Rectangle 10"/>
          <p:cNvSpPr/>
          <p:nvPr/>
        </p:nvSpPr>
        <p:spPr>
          <a:xfrm>
            <a:off x="7635240" y="3657600"/>
            <a:ext cx="4160520" cy="2834640"/>
          </a:xfrm>
          <a:prstGeom prst="roundRect">
            <a:avLst/>
          </a:prstGeom>
          <a:solidFill>
            <a:srgbClr val="FFFFFF"/>
          </a:solidFill>
          <a:ln>
            <a:solidFill>
              <a:srgbClr val="DB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19" y="3767328"/>
            <a:ext cx="3794759" cy="274320"/>
          </a:xfrm>
          <a:prstGeom prst="rect">
            <a:avLst/>
          </a:prstGeom>
          <a:noFill/>
        </p:spPr>
        <p:txBody>
          <a:bodyPr wrap="none">
            <a:spAutoFit/>
          </a:bodyPr>
          <a:lstStyle/>
          <a:p>
            <a:pPr algn="l"/>
            <a:r>
              <a:rPr sz="1400" b="1">
                <a:solidFill>
                  <a:srgbClr val="2962FF"/>
                </a:solidFill>
                <a:latin typeface="Segoe UI"/>
              </a:rPr>
              <a:t>Output Snapshot</a:t>
            </a:r>
          </a:p>
        </p:txBody>
      </p:sp>
      <p:sp>
        <p:nvSpPr>
          <p:cNvPr id="13" name="TextBox 12"/>
          <p:cNvSpPr txBox="1"/>
          <p:nvPr/>
        </p:nvSpPr>
        <p:spPr>
          <a:xfrm>
            <a:off x="7818119" y="4114800"/>
            <a:ext cx="3794759" cy="2267712"/>
          </a:xfrm>
          <a:prstGeom prst="rect">
            <a:avLst/>
          </a:prstGeom>
          <a:noFill/>
        </p:spPr>
        <p:txBody>
          <a:bodyPr wrap="square">
            <a:spAutoFit/>
          </a:bodyPr>
          <a:lstStyle/>
          <a:p>
            <a:pPr algn="l"/>
            <a:r>
              <a:rPr sz="1300" b="0">
                <a:solidFill>
                  <a:srgbClr val="202834"/>
                </a:solidFill>
                <a:latin typeface="Segoe UI"/>
              </a:rPr>
              <a:t>Unique movie_id count: 4800</a:t>
            </a:r>
          </a:p>
          <a:p>
            <a:pPr algn="l"/>
            <a:r>
              <a:rPr sz="1300" b="0">
                <a:solidFill>
                  <a:srgbClr val="202834"/>
                </a:solidFill>
                <a:latin typeface="Segoe UI"/>
              </a:rPr>
              <a:t>Total rows: 4800</a:t>
            </a:r>
          </a:p>
          <a:p>
            <a:pPr algn="l"/>
            <a:r>
              <a:rPr sz="1300" b="0">
                <a:solidFill>
                  <a:srgbClr val="202834"/>
                </a:solidFill>
                <a:latin typeface="Segoe UI"/>
              </a:rPr>
              <a:t>Any missing tags: False</a:t>
            </a:r>
          </a:p>
          <a:p>
            <a:pPr algn="l"/>
            <a:r>
              <a:rPr sz="1300" b="0">
                <a:solidFill>
                  <a:srgbClr val="202834"/>
                </a:solidFill>
                <a:latin typeface="Segoe UI"/>
              </a:rPr>
              <a:t>Empty-tag rows: 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